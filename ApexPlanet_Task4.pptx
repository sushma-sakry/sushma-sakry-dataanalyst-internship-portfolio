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Figtree"/>
      <p:regular r:id="rId23"/>
      <p:bold r:id="rId24"/>
      <p:italic r:id="rId25"/>
      <p:boldItalic r:id="rId26"/>
    </p:embeddedFont>
    <p:embeddedFont>
      <p:font typeface="Jost Light"/>
      <p:regular r:id="rId27"/>
      <p:bold r:id="rId28"/>
      <p:italic r:id="rId29"/>
      <p:boldItalic r:id="rId30"/>
    </p:embeddedFont>
    <p:embeddedFont>
      <p:font typeface="Figtree Medium"/>
      <p:regular r:id="rId31"/>
      <p:bold r:id="rId32"/>
      <p:italic r:id="rId33"/>
      <p:boldItalic r:id="rId34"/>
    </p:embeddedFont>
    <p:embeddedFont>
      <p:font typeface="Figtree Light"/>
      <p:regular r:id="rId35"/>
      <p:bold r:id="rId36"/>
      <p:italic r:id="rId37"/>
      <p:boldItalic r:id="rId38"/>
    </p:embeddedFont>
    <p:embeddedFont>
      <p:font typeface="Jost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8CDB50-038A-4F85-A9D4-11366ED895AB}">
  <a:tblStyle styleId="{BA8CDB50-038A-4F85-A9D4-11366ED895A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Jost-bold.fntdata"/><Relationship Id="rId20" Type="http://schemas.openxmlformats.org/officeDocument/2006/relationships/slide" Target="slides/slide14.xml"/><Relationship Id="rId42" Type="http://schemas.openxmlformats.org/officeDocument/2006/relationships/font" Target="fonts/Jost-boldItalic.fntdata"/><Relationship Id="rId41" Type="http://schemas.openxmlformats.org/officeDocument/2006/relationships/font" Target="fonts/Jost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Figtree-bold.fntdata"/><Relationship Id="rId23" Type="http://schemas.openxmlformats.org/officeDocument/2006/relationships/font" Target="fonts/Figtre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Figtree-boldItalic.fntdata"/><Relationship Id="rId25" Type="http://schemas.openxmlformats.org/officeDocument/2006/relationships/font" Target="fonts/Figtree-italic.fntdata"/><Relationship Id="rId28" Type="http://schemas.openxmlformats.org/officeDocument/2006/relationships/font" Target="fonts/JostLight-bold.fntdata"/><Relationship Id="rId27" Type="http://schemas.openxmlformats.org/officeDocument/2006/relationships/font" Target="fonts/JostLigh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JostLigh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FigtreeMedium-regular.fntdata"/><Relationship Id="rId30" Type="http://schemas.openxmlformats.org/officeDocument/2006/relationships/font" Target="fonts/JostLight-boldItalic.fntdata"/><Relationship Id="rId11" Type="http://schemas.openxmlformats.org/officeDocument/2006/relationships/slide" Target="slides/slide5.xml"/><Relationship Id="rId33" Type="http://schemas.openxmlformats.org/officeDocument/2006/relationships/font" Target="fonts/FigtreeMedium-italic.fntdata"/><Relationship Id="rId10" Type="http://schemas.openxmlformats.org/officeDocument/2006/relationships/slide" Target="slides/slide4.xml"/><Relationship Id="rId32" Type="http://schemas.openxmlformats.org/officeDocument/2006/relationships/font" Target="fonts/FigtreeMedium-bold.fntdata"/><Relationship Id="rId13" Type="http://schemas.openxmlformats.org/officeDocument/2006/relationships/slide" Target="slides/slide7.xml"/><Relationship Id="rId35" Type="http://schemas.openxmlformats.org/officeDocument/2006/relationships/font" Target="fonts/FigtreeLight-regular.fntdata"/><Relationship Id="rId12" Type="http://schemas.openxmlformats.org/officeDocument/2006/relationships/slide" Target="slides/slide6.xml"/><Relationship Id="rId34" Type="http://schemas.openxmlformats.org/officeDocument/2006/relationships/font" Target="fonts/FigtreeMedium-boldItalic.fntdata"/><Relationship Id="rId15" Type="http://schemas.openxmlformats.org/officeDocument/2006/relationships/slide" Target="slides/slide9.xml"/><Relationship Id="rId37" Type="http://schemas.openxmlformats.org/officeDocument/2006/relationships/font" Target="fonts/FigtreeLight-italic.fntdata"/><Relationship Id="rId14" Type="http://schemas.openxmlformats.org/officeDocument/2006/relationships/slide" Target="slides/slide8.xml"/><Relationship Id="rId36" Type="http://schemas.openxmlformats.org/officeDocument/2006/relationships/font" Target="fonts/FigtreeLight-bold.fntdata"/><Relationship Id="rId17" Type="http://schemas.openxmlformats.org/officeDocument/2006/relationships/slide" Target="slides/slide11.xml"/><Relationship Id="rId39" Type="http://schemas.openxmlformats.org/officeDocument/2006/relationships/font" Target="fonts/Jost-regular.fntdata"/><Relationship Id="rId16" Type="http://schemas.openxmlformats.org/officeDocument/2006/relationships/slide" Target="slides/slide10.xml"/><Relationship Id="rId38" Type="http://schemas.openxmlformats.org/officeDocument/2006/relationships/font" Target="fonts/FigtreeLight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h5dcc054c80ef3f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h5dcc054c80ef3f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h5dcc054c80ef3ff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h5dcc054c80ef3ff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h5dcc054c80ef3ff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h5dcc054c80ef3ff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h5dcc054c80ef3ff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h5dcc054c80ef3ff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h5dcc054c80ef3ffb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h5dcc054c80ef3ff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h5dcc054c80ef3ffb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h5dcc054c80ef3ff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h5dcc054c80ef3ffb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h5dcc054c80ef3ffb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h5dcc054c80ef3ffb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h5dcc054c80ef3ffb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h5dcc054c80ef3ffb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h5dcc054c80ef3ff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h5dcc054c80ef3ffb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h5dcc054c80ef3ffb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h5dcc054c80ef3ffb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h5dcc054c80ef3ffb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h5dcc054c80ef3ffb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h5dcc054c80ef3ffb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h5dcc054c80ef3ffb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h5dcc054c80ef3ffb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h5dcc054c80ef3ffb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h5dcc054c80ef3ffb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hd88f29194541dd5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hd88f29194541dd5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h5dcc054c80ef3ffb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h5dcc054c80ef3ffb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7_1_1_1_1_1_1_1_1_1_1_1_1_1_1_1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225" y="1298200"/>
            <a:ext cx="27120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28225" y="4579187"/>
            <a:ext cx="73104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Figtree Light"/>
              <a:buNone/>
              <a:defRPr sz="800"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228225" y="2260925"/>
            <a:ext cx="5340300" cy="267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3" type="title"/>
          </p:nvPr>
        </p:nvSpPr>
        <p:spPr>
          <a:xfrm>
            <a:off x="189618" y="1545733"/>
            <a:ext cx="82785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172525" y="0"/>
            <a:ext cx="1971600" cy="51435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809850" y="12695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2" type="title"/>
          </p:nvPr>
        </p:nvSpPr>
        <p:spPr>
          <a:xfrm>
            <a:off x="3154650" y="349505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3"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4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5" type="title"/>
          </p:nvPr>
        </p:nvSpPr>
        <p:spPr>
          <a:xfrm>
            <a:off x="3809850" y="17146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6" type="title"/>
          </p:nvPr>
        </p:nvSpPr>
        <p:spPr>
          <a:xfrm>
            <a:off x="3809850" y="21597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7" type="title"/>
          </p:nvPr>
        </p:nvSpPr>
        <p:spPr>
          <a:xfrm>
            <a:off x="3809850" y="259398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8" type="title"/>
          </p:nvPr>
        </p:nvSpPr>
        <p:spPr>
          <a:xfrm>
            <a:off x="3809850" y="3036613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9" type="title"/>
          </p:nvPr>
        </p:nvSpPr>
        <p:spPr>
          <a:xfrm>
            <a:off x="3809850" y="347923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3" type="title"/>
          </p:nvPr>
        </p:nvSpPr>
        <p:spPr>
          <a:xfrm>
            <a:off x="3154650" y="3049925"/>
            <a:ext cx="592800" cy="3681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4" type="title"/>
          </p:nvPr>
        </p:nvSpPr>
        <p:spPr>
          <a:xfrm>
            <a:off x="3154650" y="2604813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5" type="title"/>
          </p:nvPr>
        </p:nvSpPr>
        <p:spPr>
          <a:xfrm>
            <a:off x="3154650" y="215970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6" type="title"/>
          </p:nvPr>
        </p:nvSpPr>
        <p:spPr>
          <a:xfrm>
            <a:off x="3154650" y="17145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7" type="title"/>
          </p:nvPr>
        </p:nvSpPr>
        <p:spPr>
          <a:xfrm>
            <a:off x="3154650" y="12694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8" type="title"/>
          </p:nvPr>
        </p:nvSpPr>
        <p:spPr>
          <a:xfrm>
            <a:off x="228600" y="457200"/>
            <a:ext cx="5762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1">
  <p:cSld name="CUSTOM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4"/>
          <p:cNvSpPr/>
          <p:nvPr>
            <p:ph idx="3" type="pic"/>
          </p:nvPr>
        </p:nvSpPr>
        <p:spPr>
          <a:xfrm>
            <a:off x="3044117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4"/>
          <p:cNvSpPr/>
          <p:nvPr>
            <p:ph idx="4" type="pic"/>
          </p:nvPr>
        </p:nvSpPr>
        <p:spPr>
          <a:xfrm>
            <a:off x="6088233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228675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5" type="title"/>
          </p:nvPr>
        </p:nvSpPr>
        <p:spPr>
          <a:xfrm>
            <a:off x="228675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" type="body"/>
          </p:nvPr>
        </p:nvSpPr>
        <p:spPr>
          <a:xfrm>
            <a:off x="228675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41" name="Google Shape;41;p4"/>
          <p:cNvSpPr txBox="1"/>
          <p:nvPr>
            <p:ph idx="6" type="title"/>
          </p:nvPr>
        </p:nvSpPr>
        <p:spPr>
          <a:xfrm>
            <a:off x="3235367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7" type="title"/>
          </p:nvPr>
        </p:nvSpPr>
        <p:spPr>
          <a:xfrm>
            <a:off x="3235367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8" type="body"/>
          </p:nvPr>
        </p:nvSpPr>
        <p:spPr>
          <a:xfrm>
            <a:off x="3241214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44" name="Google Shape;44;p4"/>
          <p:cNvSpPr txBox="1"/>
          <p:nvPr>
            <p:ph idx="9" type="title"/>
          </p:nvPr>
        </p:nvSpPr>
        <p:spPr>
          <a:xfrm>
            <a:off x="6279483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3" type="title"/>
          </p:nvPr>
        </p:nvSpPr>
        <p:spPr>
          <a:xfrm>
            <a:off x="6279483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14" type="body"/>
          </p:nvPr>
        </p:nvSpPr>
        <p:spPr>
          <a:xfrm>
            <a:off x="6285328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2">
  <p:cSld name="CUSTOM_1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9" name="Google Shape;49;p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228600" y="457200"/>
            <a:ext cx="62823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4" type="title"/>
          </p:nvPr>
        </p:nvSpPr>
        <p:spPr>
          <a:xfrm>
            <a:off x="33987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5" type="title"/>
          </p:nvPr>
        </p:nvSpPr>
        <p:spPr>
          <a:xfrm>
            <a:off x="33987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6" type="title"/>
          </p:nvPr>
        </p:nvSpPr>
        <p:spPr>
          <a:xfrm>
            <a:off x="1807977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7" type="title"/>
          </p:nvPr>
        </p:nvSpPr>
        <p:spPr>
          <a:xfrm>
            <a:off x="1807977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8" type="title"/>
          </p:nvPr>
        </p:nvSpPr>
        <p:spPr>
          <a:xfrm>
            <a:off x="327554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9" type="title"/>
          </p:nvPr>
        </p:nvSpPr>
        <p:spPr>
          <a:xfrm>
            <a:off x="327554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13" type="title"/>
          </p:nvPr>
        </p:nvSpPr>
        <p:spPr>
          <a:xfrm>
            <a:off x="4743373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14" type="title"/>
          </p:nvPr>
        </p:nvSpPr>
        <p:spPr>
          <a:xfrm>
            <a:off x="4743373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15" type="title"/>
          </p:nvPr>
        </p:nvSpPr>
        <p:spPr>
          <a:xfrm>
            <a:off x="6205996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16" type="title"/>
          </p:nvPr>
        </p:nvSpPr>
        <p:spPr>
          <a:xfrm>
            <a:off x="6205996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7" type="title"/>
          </p:nvPr>
        </p:nvSpPr>
        <p:spPr>
          <a:xfrm>
            <a:off x="7683660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idx="18" type="title"/>
          </p:nvPr>
        </p:nvSpPr>
        <p:spPr>
          <a:xfrm>
            <a:off x="7683660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4" name="Google Shape;64;p5"/>
          <p:cNvSpPr/>
          <p:nvPr>
            <p:ph idx="19" type="pic"/>
          </p:nvPr>
        </p:nvSpPr>
        <p:spPr>
          <a:xfrm>
            <a:off x="1726022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5" name="Google Shape;65;p5"/>
          <p:cNvSpPr/>
          <p:nvPr>
            <p:ph idx="20" type="pic"/>
          </p:nvPr>
        </p:nvSpPr>
        <p:spPr>
          <a:xfrm>
            <a:off x="3194345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6" name="Google Shape;66;p5"/>
          <p:cNvSpPr/>
          <p:nvPr>
            <p:ph idx="21" type="pic"/>
          </p:nvPr>
        </p:nvSpPr>
        <p:spPr>
          <a:xfrm>
            <a:off x="4662668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7" name="Google Shape;67;p5"/>
          <p:cNvSpPr/>
          <p:nvPr>
            <p:ph idx="22" type="pic"/>
          </p:nvPr>
        </p:nvSpPr>
        <p:spPr>
          <a:xfrm>
            <a:off x="613099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8" name="Google Shape;68;p5"/>
          <p:cNvSpPr/>
          <p:nvPr>
            <p:ph idx="23" type="pic"/>
          </p:nvPr>
        </p:nvSpPr>
        <p:spPr>
          <a:xfrm>
            <a:off x="7599313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9" name="Google Shape;69;p5"/>
          <p:cNvSpPr/>
          <p:nvPr>
            <p:ph idx="24" type="pic"/>
          </p:nvPr>
        </p:nvSpPr>
        <p:spPr>
          <a:xfrm>
            <a:off x="25770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8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3" type="title"/>
          </p:nvPr>
        </p:nvSpPr>
        <p:spPr>
          <a:xfrm>
            <a:off x="228600" y="457200"/>
            <a:ext cx="4296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1">
  <p:cSld name="CUSTOM_8_1_1_1_1_1_1_1_1_1_1_1_1_1_1_1_1_1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6" name="Google Shape;76;p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idx="2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pic>
        <p:nvPicPr>
          <p:cNvPr descr="Free Images : landscape, nature, horizon, mountain, sky, night ..." id="78" name="Google Shape;78;p7"/>
          <p:cNvPicPr preferRelativeResize="0"/>
          <p:nvPr/>
        </p:nvPicPr>
        <p:blipFill rotWithShape="1">
          <a:blip r:embed="rId2">
            <a:alphaModFix/>
          </a:blip>
          <a:srcRect b="0" l="23232" r="29975" t="0"/>
          <a:stretch/>
        </p:blipFill>
        <p:spPr>
          <a:xfrm>
            <a:off x="7541887" y="0"/>
            <a:ext cx="160407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7"/>
          <p:cNvSpPr txBox="1"/>
          <p:nvPr>
            <p:ph idx="1" type="subTitle"/>
          </p:nvPr>
        </p:nvSpPr>
        <p:spPr>
          <a:xfrm>
            <a:off x="228950" y="1419750"/>
            <a:ext cx="51549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80" name="Google Shape;80;p7"/>
          <p:cNvSpPr/>
          <p:nvPr/>
        </p:nvSpPr>
        <p:spPr>
          <a:xfrm>
            <a:off x="6077650" y="0"/>
            <a:ext cx="1462200" cy="51435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1">
  <p:cSld name="CUSTOM_8_1_1_1_1_1_1_1_1_1_1_1_1_1_1_1_1_1_1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3" name="Google Shape;83;p8"/>
          <p:cNvSpPr/>
          <p:nvPr/>
        </p:nvSpPr>
        <p:spPr>
          <a:xfrm rot="10800000">
            <a:off x="3156575" y="250"/>
            <a:ext cx="59835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4" name="Google Shape;84;p8"/>
          <p:cNvSpPr txBox="1"/>
          <p:nvPr/>
        </p:nvSpPr>
        <p:spPr>
          <a:xfrm>
            <a:off x="4102943" y="10423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5" name="Google Shape;85;p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" name="Google Shape;87;p8"/>
          <p:cNvSpPr txBox="1"/>
          <p:nvPr>
            <p:ph idx="3" type="title"/>
          </p:nvPr>
        </p:nvSpPr>
        <p:spPr>
          <a:xfrm>
            <a:off x="228600" y="457200"/>
            <a:ext cx="29259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8" name="Google Shape;88;p8"/>
          <p:cNvSpPr txBox="1"/>
          <p:nvPr>
            <p:ph idx="1" type="subTitle"/>
          </p:nvPr>
        </p:nvSpPr>
        <p:spPr>
          <a:xfrm>
            <a:off x="4102950" y="1631400"/>
            <a:ext cx="40890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89" name="Google Shape;89;p8"/>
          <p:cNvSpPr txBox="1"/>
          <p:nvPr>
            <p:ph idx="4" type="subTitle"/>
          </p:nvPr>
        </p:nvSpPr>
        <p:spPr>
          <a:xfrm>
            <a:off x="228600" y="39677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90" name="Google Shape;90;p8"/>
          <p:cNvSpPr/>
          <p:nvPr>
            <p:ph idx="5" type="pic"/>
          </p:nvPr>
        </p:nvSpPr>
        <p:spPr>
          <a:xfrm>
            <a:off x="228800" y="1707600"/>
            <a:ext cx="1951200" cy="20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2">
  <p:cSld name="CUSTOM_8_1_1_1_1_1_1_1_1_1_1_1_1_1_1_1_1_1_1_1_1_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/>
          <p:nvPr/>
        </p:nvSpPr>
        <p:spPr>
          <a:xfrm rot="-5400000">
            <a:off x="3054300" y="1196700"/>
            <a:ext cx="3946800" cy="39468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3" name="Google Shape;93;p9"/>
          <p:cNvSpPr/>
          <p:nvPr/>
        </p:nvSpPr>
        <p:spPr>
          <a:xfrm rot="5400000">
            <a:off x="6262500" y="0"/>
            <a:ext cx="2881500" cy="2881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4" name="Google Shape;94;p9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9"/>
          <p:cNvSpPr txBox="1"/>
          <p:nvPr/>
        </p:nvSpPr>
        <p:spPr>
          <a:xfrm>
            <a:off x="3455693" y="2282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6" name="Google Shape;96;p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4" type="title"/>
          </p:nvPr>
        </p:nvSpPr>
        <p:spPr>
          <a:xfrm>
            <a:off x="228600" y="3429000"/>
            <a:ext cx="34326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9" name="Google Shape;99;p9"/>
          <p:cNvSpPr txBox="1"/>
          <p:nvPr>
            <p:ph idx="1" type="subTitle"/>
          </p:nvPr>
        </p:nvSpPr>
        <p:spPr>
          <a:xfrm>
            <a:off x="3455700" y="817300"/>
            <a:ext cx="49593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100" name="Google Shape;100;p9"/>
          <p:cNvSpPr txBox="1"/>
          <p:nvPr>
            <p:ph idx="5" type="subTitle"/>
          </p:nvPr>
        </p:nvSpPr>
        <p:spPr>
          <a:xfrm>
            <a:off x="228600" y="37391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3">
  <p:cSld name="CUSTOM_8_1_1_1_1_1_1_1_1_1_1_1_1_1_1_1_1_1_1_1_1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3" name="Google Shape;103;p10"/>
          <p:cNvSpPr/>
          <p:nvPr/>
        </p:nvSpPr>
        <p:spPr>
          <a:xfrm rot="10800000">
            <a:off x="4619975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4" name="Google Shape;104;p1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3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7" name="Google Shape;107;p10"/>
          <p:cNvSpPr txBox="1"/>
          <p:nvPr>
            <p:ph idx="1" type="subTitle"/>
          </p:nvPr>
        </p:nvSpPr>
        <p:spPr>
          <a:xfrm>
            <a:off x="230075" y="882000"/>
            <a:ext cx="3716700" cy="112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8" name="Google Shape;108;p10"/>
          <p:cNvSpPr txBox="1"/>
          <p:nvPr>
            <p:ph idx="4" type="body"/>
          </p:nvPr>
        </p:nvSpPr>
        <p:spPr>
          <a:xfrm>
            <a:off x="230075" y="3492500"/>
            <a:ext cx="3462600" cy="71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09" name="Google Shape;109;p10"/>
          <p:cNvSpPr/>
          <p:nvPr>
            <p:ph idx="5" type="pic"/>
          </p:nvPr>
        </p:nvSpPr>
        <p:spPr>
          <a:xfrm>
            <a:off x="5520400" y="921875"/>
            <a:ext cx="2724900" cy="3293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8_1_1_1_1_1_1_1_1_1_1_1_1_1_1_1_1_1_1_1_1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/>
          <p:nvPr/>
        </p:nvSpPr>
        <p:spPr>
          <a:xfrm rot="8100000">
            <a:off x="1338758" y="1905656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2" name="Google Shape;112;p11"/>
          <p:cNvSpPr/>
          <p:nvPr/>
        </p:nvSpPr>
        <p:spPr>
          <a:xfrm rot="-2700000">
            <a:off x="3109572" y="-1459928"/>
            <a:ext cx="2922755" cy="2922755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4" name="Google Shape;114;p1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" name="Google Shape;115;p11"/>
          <p:cNvSpPr txBox="1"/>
          <p:nvPr>
            <p:ph idx="1" type="subTitle"/>
          </p:nvPr>
        </p:nvSpPr>
        <p:spPr>
          <a:xfrm>
            <a:off x="230075" y="1548047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16" name="Google Shape;116;p11"/>
          <p:cNvSpPr txBox="1"/>
          <p:nvPr>
            <p:ph idx="3" type="title"/>
          </p:nvPr>
        </p:nvSpPr>
        <p:spPr>
          <a:xfrm>
            <a:off x="228600" y="1960022"/>
            <a:ext cx="7224600" cy="12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USTOM_8_1_1_1_1_1_1_1_1_1_1_1_1_1_1_1_1_1_1_1_1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19" name="Google Shape;119;p1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20" name="Google Shape;120;p12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1" type="subTitle"/>
          </p:nvPr>
        </p:nvSpPr>
        <p:spPr>
          <a:xfrm>
            <a:off x="1638400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2" name="Google Shape;122;p12"/>
          <p:cNvSpPr txBox="1"/>
          <p:nvPr>
            <p:ph idx="4" type="subTitle"/>
          </p:nvPr>
        </p:nvSpPr>
        <p:spPr>
          <a:xfrm>
            <a:off x="30997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3" name="Google Shape;123;p12"/>
          <p:cNvSpPr txBox="1"/>
          <p:nvPr>
            <p:ph idx="5" type="subTitle"/>
          </p:nvPr>
        </p:nvSpPr>
        <p:spPr>
          <a:xfrm>
            <a:off x="45636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4" name="Google Shape;124;p12"/>
          <p:cNvSpPr txBox="1"/>
          <p:nvPr>
            <p:ph idx="6" type="subTitle"/>
          </p:nvPr>
        </p:nvSpPr>
        <p:spPr>
          <a:xfrm>
            <a:off x="6024925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5" name="Google Shape;125;p12"/>
          <p:cNvSpPr txBox="1"/>
          <p:nvPr>
            <p:ph idx="7" type="subTitle"/>
          </p:nvPr>
        </p:nvSpPr>
        <p:spPr>
          <a:xfrm>
            <a:off x="7521175" y="1547546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6" name="Google Shape;126;p12"/>
          <p:cNvSpPr txBox="1"/>
          <p:nvPr>
            <p:ph idx="8" type="subTitle"/>
          </p:nvPr>
        </p:nvSpPr>
        <p:spPr>
          <a:xfrm>
            <a:off x="381000" y="213148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7" name="Google Shape;127;p12"/>
          <p:cNvSpPr txBox="1"/>
          <p:nvPr>
            <p:ph idx="9" type="subTitle"/>
          </p:nvPr>
        </p:nvSpPr>
        <p:spPr>
          <a:xfrm>
            <a:off x="381000" y="268793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8" name="Google Shape;128;p12"/>
          <p:cNvSpPr txBox="1"/>
          <p:nvPr>
            <p:ph idx="13" type="subTitle"/>
          </p:nvPr>
        </p:nvSpPr>
        <p:spPr>
          <a:xfrm>
            <a:off x="381000" y="32386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9" name="Google Shape;129;p12"/>
          <p:cNvSpPr txBox="1"/>
          <p:nvPr>
            <p:ph idx="14" type="subTitle"/>
          </p:nvPr>
        </p:nvSpPr>
        <p:spPr>
          <a:xfrm>
            <a:off x="381000" y="379505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0" name="Google Shape;130;p12"/>
          <p:cNvSpPr txBox="1"/>
          <p:nvPr>
            <p:ph idx="15" type="subTitle"/>
          </p:nvPr>
        </p:nvSpPr>
        <p:spPr>
          <a:xfrm>
            <a:off x="381000" y="43515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CUSTOM_8_1_1_1_1_1_1_1_1_1_1_1_1_1_1_1_1_1_1_1_1_1_1_1_2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/>
          <p:nvPr/>
        </p:nvSpPr>
        <p:spPr>
          <a:xfrm flipH="1">
            <a:off x="6286500" y="0"/>
            <a:ext cx="2857500" cy="28575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3" name="Google Shape;133;p13"/>
          <p:cNvSpPr/>
          <p:nvPr/>
        </p:nvSpPr>
        <p:spPr>
          <a:xfrm rot="10800000">
            <a:off x="0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4903325" y="10727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35" name="Google Shape;135;p13"/>
          <p:cNvSpPr txBox="1"/>
          <p:nvPr>
            <p:ph idx="2" type="body"/>
          </p:nvPr>
        </p:nvSpPr>
        <p:spPr>
          <a:xfrm>
            <a:off x="4903325" y="20186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36" name="Google Shape;136;p1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38" name="Google Shape;138;p13"/>
          <p:cNvSpPr/>
          <p:nvPr>
            <p:ph idx="4" type="pic"/>
          </p:nvPr>
        </p:nvSpPr>
        <p:spPr>
          <a:xfrm>
            <a:off x="230075" y="457200"/>
            <a:ext cx="3681600" cy="23097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13"/>
          <p:cNvSpPr txBox="1"/>
          <p:nvPr>
            <p:ph idx="5" type="title"/>
          </p:nvPr>
        </p:nvSpPr>
        <p:spPr>
          <a:xfrm>
            <a:off x="230075" y="2993600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0" name="Google Shape;140;p13"/>
          <p:cNvSpPr txBox="1"/>
          <p:nvPr>
            <p:ph idx="6" type="body"/>
          </p:nvPr>
        </p:nvSpPr>
        <p:spPr>
          <a:xfrm>
            <a:off x="230075" y="3515700"/>
            <a:ext cx="36816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41" name="Google Shape;141;p13"/>
          <p:cNvSpPr txBox="1"/>
          <p:nvPr>
            <p:ph idx="7" type="body"/>
          </p:nvPr>
        </p:nvSpPr>
        <p:spPr>
          <a:xfrm>
            <a:off x="4903325" y="2964575"/>
            <a:ext cx="3681600" cy="44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42" name="Google Shape;142;p13"/>
          <p:cNvSpPr txBox="1"/>
          <p:nvPr>
            <p:ph idx="8" type="subTitle"/>
          </p:nvPr>
        </p:nvSpPr>
        <p:spPr>
          <a:xfrm>
            <a:off x="4903325" y="26537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43" name="Google Shape;143;p13"/>
          <p:cNvSpPr txBox="1"/>
          <p:nvPr>
            <p:ph idx="9" type="subTitle"/>
          </p:nvPr>
        </p:nvSpPr>
        <p:spPr>
          <a:xfrm>
            <a:off x="4903325" y="17078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44" name="Google Shape;144;p13"/>
          <p:cNvSpPr txBox="1"/>
          <p:nvPr>
            <p:ph idx="13" type="subTitle"/>
          </p:nvPr>
        </p:nvSpPr>
        <p:spPr>
          <a:xfrm>
            <a:off x="4903325" y="7619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ards">
  <p:cSld name="CUSTOM_8_1_1_1_1_1_1_1_1_1_1_1_1_1_1_1_1_1_1_1_1_1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7" name="Google Shape;147;p1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8" name="Google Shape;148;p1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9" name="Google Shape;149;p14"/>
          <p:cNvSpPr txBox="1"/>
          <p:nvPr>
            <p:ph idx="1" type="body"/>
          </p:nvPr>
        </p:nvSpPr>
        <p:spPr>
          <a:xfrm>
            <a:off x="228600" y="882000"/>
            <a:ext cx="2514300" cy="6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0" name="Google Shape;150;p14"/>
          <p:cNvSpPr txBox="1"/>
          <p:nvPr>
            <p:ph idx="4" type="subTitle"/>
          </p:nvPr>
        </p:nvSpPr>
        <p:spPr>
          <a:xfrm>
            <a:off x="34332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51" name="Google Shape;151;p14"/>
          <p:cNvSpPr txBox="1"/>
          <p:nvPr>
            <p:ph idx="5" type="subTitle"/>
          </p:nvPr>
        </p:nvSpPr>
        <p:spPr>
          <a:xfrm>
            <a:off x="473367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CUSTOM_8_1_1_1_1_1_1_1_1_1_1_1_1_1_1_1_1_1_1_1_1_1_1_1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4" name="Google Shape;154;p1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1" type="body"/>
          </p:nvPr>
        </p:nvSpPr>
        <p:spPr>
          <a:xfrm>
            <a:off x="4637600" y="432627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6" name="Google Shape;156;p15"/>
          <p:cNvSpPr txBox="1"/>
          <p:nvPr>
            <p:ph idx="3" type="subTitle"/>
          </p:nvPr>
        </p:nvSpPr>
        <p:spPr>
          <a:xfrm>
            <a:off x="1603898" y="4342896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57" name="Google Shape;157;p15"/>
          <p:cNvSpPr txBox="1"/>
          <p:nvPr>
            <p:ph idx="4" type="subTitle"/>
          </p:nvPr>
        </p:nvSpPr>
        <p:spPr>
          <a:xfrm>
            <a:off x="330825" y="418932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8" name="Google Shape;158;p15"/>
          <p:cNvSpPr txBox="1"/>
          <p:nvPr>
            <p:ph idx="5" type="body"/>
          </p:nvPr>
        </p:nvSpPr>
        <p:spPr>
          <a:xfrm>
            <a:off x="4637600" y="332264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9" name="Google Shape;159;p15"/>
          <p:cNvSpPr txBox="1"/>
          <p:nvPr>
            <p:ph idx="6" type="subTitle"/>
          </p:nvPr>
        </p:nvSpPr>
        <p:spPr>
          <a:xfrm>
            <a:off x="1603898" y="3339267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0" name="Google Shape;160;p15"/>
          <p:cNvSpPr txBox="1"/>
          <p:nvPr>
            <p:ph idx="7" type="subTitle"/>
          </p:nvPr>
        </p:nvSpPr>
        <p:spPr>
          <a:xfrm>
            <a:off x="330825" y="318569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1" name="Google Shape;161;p15"/>
          <p:cNvSpPr txBox="1"/>
          <p:nvPr>
            <p:ph idx="8" type="body"/>
          </p:nvPr>
        </p:nvSpPr>
        <p:spPr>
          <a:xfrm>
            <a:off x="4637600" y="234198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62" name="Google Shape;162;p15"/>
          <p:cNvSpPr txBox="1"/>
          <p:nvPr>
            <p:ph idx="9" type="subTitle"/>
          </p:nvPr>
        </p:nvSpPr>
        <p:spPr>
          <a:xfrm>
            <a:off x="1603898" y="2358608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3" name="Google Shape;163;p15"/>
          <p:cNvSpPr txBox="1"/>
          <p:nvPr>
            <p:ph idx="13" type="subTitle"/>
          </p:nvPr>
        </p:nvSpPr>
        <p:spPr>
          <a:xfrm>
            <a:off x="330825" y="2205037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4" name="Google Shape;164;p15"/>
          <p:cNvSpPr txBox="1"/>
          <p:nvPr>
            <p:ph idx="14" type="body"/>
          </p:nvPr>
        </p:nvSpPr>
        <p:spPr>
          <a:xfrm>
            <a:off x="4637600" y="136132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65" name="Google Shape;165;p15"/>
          <p:cNvSpPr txBox="1"/>
          <p:nvPr>
            <p:ph idx="15" type="subTitle"/>
          </p:nvPr>
        </p:nvSpPr>
        <p:spPr>
          <a:xfrm>
            <a:off x="1603898" y="1377949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6" name="Google Shape;166;p15"/>
          <p:cNvSpPr txBox="1"/>
          <p:nvPr>
            <p:ph idx="16" type="subTitle"/>
          </p:nvPr>
        </p:nvSpPr>
        <p:spPr>
          <a:xfrm>
            <a:off x="330825" y="1224378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7" name="Google Shape;167;p15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ards">
  <p:cSld name="CUSTOM_8_1_1_1_1_1_1_1_1_1_1_1_1_1_1_1_1_1_1_1_1_1_1_1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 txBox="1"/>
          <p:nvPr>
            <p:ph idx="1" type="body"/>
          </p:nvPr>
        </p:nvSpPr>
        <p:spPr>
          <a:xfrm>
            <a:off x="3316788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70" name="Google Shape;170;p1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71" name="Google Shape;171;p1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72" name="Google Shape;172;p16"/>
          <p:cNvSpPr txBox="1"/>
          <p:nvPr>
            <p:ph idx="3" type="subTitle"/>
          </p:nvPr>
        </p:nvSpPr>
        <p:spPr>
          <a:xfrm>
            <a:off x="355609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3" name="Google Shape;173;p16"/>
          <p:cNvSpPr txBox="1"/>
          <p:nvPr>
            <p:ph idx="4" type="body"/>
          </p:nvPr>
        </p:nvSpPr>
        <p:spPr>
          <a:xfrm>
            <a:off x="387450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74" name="Google Shape;174;p16"/>
          <p:cNvSpPr txBox="1"/>
          <p:nvPr>
            <p:ph idx="5" type="subTitle"/>
          </p:nvPr>
        </p:nvSpPr>
        <p:spPr>
          <a:xfrm>
            <a:off x="3284965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5" name="Google Shape;175;p16"/>
          <p:cNvSpPr txBox="1"/>
          <p:nvPr>
            <p:ph idx="6" type="subTitle"/>
          </p:nvPr>
        </p:nvSpPr>
        <p:spPr>
          <a:xfrm>
            <a:off x="6213059" y="5605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6" name="Google Shape;176;p16"/>
          <p:cNvSpPr txBox="1"/>
          <p:nvPr>
            <p:ph idx="7" type="body"/>
          </p:nvPr>
        </p:nvSpPr>
        <p:spPr>
          <a:xfrm>
            <a:off x="6244900" y="15267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2">
  <p:cSld name="CUSTOM_8_1_1_1_1_1_1_1_1_1_1_1_1_1_1_1_1_1_1_1_1_1_1_1_1_1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/>
          <p:nvPr/>
        </p:nvSpPr>
        <p:spPr>
          <a:xfrm rot="10800000">
            <a:off x="-25" y="250"/>
            <a:ext cx="3066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230934" y="1805263"/>
            <a:ext cx="37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🡖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80" name="Google Shape;180;p1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2" name="Google Shape;182;p17"/>
          <p:cNvSpPr txBox="1"/>
          <p:nvPr>
            <p:ph idx="3" type="title"/>
          </p:nvPr>
        </p:nvSpPr>
        <p:spPr>
          <a:xfrm>
            <a:off x="230937" y="1593450"/>
            <a:ext cx="237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83" name="Google Shape;183;p17"/>
          <p:cNvSpPr txBox="1"/>
          <p:nvPr>
            <p:ph idx="1" type="body"/>
          </p:nvPr>
        </p:nvSpPr>
        <p:spPr>
          <a:xfrm>
            <a:off x="230938" y="2041800"/>
            <a:ext cx="2378700" cy="9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4" name="Google Shape;184;p17"/>
          <p:cNvSpPr txBox="1"/>
          <p:nvPr>
            <p:ph idx="4" type="body"/>
          </p:nvPr>
        </p:nvSpPr>
        <p:spPr>
          <a:xfrm>
            <a:off x="34393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5" name="Google Shape;185;p17"/>
          <p:cNvSpPr txBox="1"/>
          <p:nvPr>
            <p:ph idx="5" type="subTitle"/>
          </p:nvPr>
        </p:nvSpPr>
        <p:spPr>
          <a:xfrm>
            <a:off x="34393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6" type="body"/>
          </p:nvPr>
        </p:nvSpPr>
        <p:spPr>
          <a:xfrm>
            <a:off x="34393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7" name="Google Shape;187;p17"/>
          <p:cNvSpPr txBox="1"/>
          <p:nvPr>
            <p:ph idx="7" type="subTitle"/>
          </p:nvPr>
        </p:nvSpPr>
        <p:spPr>
          <a:xfrm>
            <a:off x="34393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8" name="Google Shape;188;p17"/>
          <p:cNvSpPr txBox="1"/>
          <p:nvPr>
            <p:ph idx="8" type="body"/>
          </p:nvPr>
        </p:nvSpPr>
        <p:spPr>
          <a:xfrm>
            <a:off x="63132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9" name="Google Shape;189;p17"/>
          <p:cNvSpPr txBox="1"/>
          <p:nvPr>
            <p:ph idx="9" type="subTitle"/>
          </p:nvPr>
        </p:nvSpPr>
        <p:spPr>
          <a:xfrm>
            <a:off x="63132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90" name="Google Shape;190;p17"/>
          <p:cNvSpPr txBox="1"/>
          <p:nvPr>
            <p:ph idx="13" type="body"/>
          </p:nvPr>
        </p:nvSpPr>
        <p:spPr>
          <a:xfrm>
            <a:off x="63132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91" name="Google Shape;191;p17"/>
          <p:cNvSpPr txBox="1"/>
          <p:nvPr>
            <p:ph idx="14" type="subTitle"/>
          </p:nvPr>
        </p:nvSpPr>
        <p:spPr>
          <a:xfrm>
            <a:off x="63132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92" name="Google Shape;192;p17"/>
          <p:cNvSpPr txBox="1"/>
          <p:nvPr>
            <p:ph idx="15" type="body"/>
          </p:nvPr>
        </p:nvSpPr>
        <p:spPr>
          <a:xfrm>
            <a:off x="230650" y="3875100"/>
            <a:ext cx="23787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3" name="Google Shape;193;p17"/>
          <p:cNvSpPr/>
          <p:nvPr>
            <p:ph idx="16" type="pic"/>
          </p:nvPr>
        </p:nvSpPr>
        <p:spPr>
          <a:xfrm>
            <a:off x="230350" y="457200"/>
            <a:ext cx="853200" cy="103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14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96" name="Google Shape;196;p1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197" name="Google Shape;197;p1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198" name="Google Shape;198;p18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1" type="body"/>
          </p:nvPr>
        </p:nvSpPr>
        <p:spPr>
          <a:xfrm>
            <a:off x="429350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0" name="Google Shape;200;p18"/>
          <p:cNvSpPr txBox="1"/>
          <p:nvPr>
            <p:ph idx="4" type="subTitle"/>
          </p:nvPr>
        </p:nvSpPr>
        <p:spPr>
          <a:xfrm>
            <a:off x="429350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1" name="Google Shape;201;p18"/>
          <p:cNvSpPr txBox="1"/>
          <p:nvPr>
            <p:ph idx="5" type="body"/>
          </p:nvPr>
        </p:nvSpPr>
        <p:spPr>
          <a:xfrm>
            <a:off x="4833813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2" name="Google Shape;202;p18"/>
          <p:cNvSpPr txBox="1"/>
          <p:nvPr>
            <p:ph idx="6" type="subTitle"/>
          </p:nvPr>
        </p:nvSpPr>
        <p:spPr>
          <a:xfrm>
            <a:off x="4833813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3" name="Google Shape;203;p18"/>
          <p:cNvSpPr txBox="1"/>
          <p:nvPr>
            <p:ph idx="7" type="body"/>
          </p:nvPr>
        </p:nvSpPr>
        <p:spPr>
          <a:xfrm>
            <a:off x="2631588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4" name="Google Shape;204;p18"/>
          <p:cNvSpPr txBox="1"/>
          <p:nvPr>
            <p:ph idx="8" type="subTitle"/>
          </p:nvPr>
        </p:nvSpPr>
        <p:spPr>
          <a:xfrm>
            <a:off x="2631588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5" name="Google Shape;205;p18"/>
          <p:cNvSpPr txBox="1"/>
          <p:nvPr>
            <p:ph idx="9" type="body"/>
          </p:nvPr>
        </p:nvSpPr>
        <p:spPr>
          <a:xfrm>
            <a:off x="7036075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6" name="Google Shape;206;p18"/>
          <p:cNvSpPr txBox="1"/>
          <p:nvPr>
            <p:ph idx="13" type="subTitle"/>
          </p:nvPr>
        </p:nvSpPr>
        <p:spPr>
          <a:xfrm>
            <a:off x="7036075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">
  <p:cSld name="CUSTOM_8_1_1_1_1_1_1_1_1_1_1_1_1_1_1_1_1_1_1_1_1_1_1_1_1_1_1_1_1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/>
          <p:nvPr/>
        </p:nvSpPr>
        <p:spPr>
          <a:xfrm>
            <a:off x="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09" name="Google Shape;209;p1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0" name="Google Shape;210;p19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1" name="Google Shape;211;p19"/>
          <p:cNvSpPr txBox="1"/>
          <p:nvPr>
            <p:ph idx="1" type="body"/>
          </p:nvPr>
        </p:nvSpPr>
        <p:spPr>
          <a:xfrm>
            <a:off x="337797" y="1044075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2" name="Google Shape;212;p19"/>
          <p:cNvSpPr txBox="1"/>
          <p:nvPr>
            <p:ph idx="3" type="body"/>
          </p:nvPr>
        </p:nvSpPr>
        <p:spPr>
          <a:xfrm>
            <a:off x="5967566" y="1044075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3" name="Google Shape;213;p19"/>
          <p:cNvSpPr txBox="1"/>
          <p:nvPr>
            <p:ph idx="4" type="body"/>
          </p:nvPr>
        </p:nvSpPr>
        <p:spPr>
          <a:xfrm>
            <a:off x="321474" y="3385428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4" name="Google Shape;214;p19"/>
          <p:cNvSpPr txBox="1"/>
          <p:nvPr>
            <p:ph idx="5" type="body"/>
          </p:nvPr>
        </p:nvSpPr>
        <p:spPr>
          <a:xfrm>
            <a:off x="5951149" y="3385428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5" name="Google Shape;215;p19"/>
          <p:cNvSpPr txBox="1"/>
          <p:nvPr>
            <p:ph idx="6" type="subTitle"/>
          </p:nvPr>
        </p:nvSpPr>
        <p:spPr>
          <a:xfrm>
            <a:off x="3505113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6" name="Google Shape;216;p19"/>
          <p:cNvSpPr txBox="1"/>
          <p:nvPr>
            <p:ph idx="7" type="subTitle"/>
          </p:nvPr>
        </p:nvSpPr>
        <p:spPr>
          <a:xfrm>
            <a:off x="4638638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7" name="Google Shape;217;p19"/>
          <p:cNvSpPr txBox="1"/>
          <p:nvPr>
            <p:ph idx="8" type="subTitle"/>
          </p:nvPr>
        </p:nvSpPr>
        <p:spPr>
          <a:xfrm>
            <a:off x="3505525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8" name="Google Shape;218;p19"/>
          <p:cNvSpPr txBox="1"/>
          <p:nvPr>
            <p:ph idx="9" type="subTitle"/>
          </p:nvPr>
        </p:nvSpPr>
        <p:spPr>
          <a:xfrm>
            <a:off x="4639050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9" name="Google Shape;219;p19"/>
          <p:cNvSpPr txBox="1"/>
          <p:nvPr>
            <p:ph idx="13" type="subTitle"/>
          </p:nvPr>
        </p:nvSpPr>
        <p:spPr>
          <a:xfrm>
            <a:off x="4319044" y="2485650"/>
            <a:ext cx="5067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20" name="Google Shape;220;p19"/>
          <p:cNvSpPr txBox="1"/>
          <p:nvPr>
            <p:ph idx="14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1">
  <p:cSld name="CUSTOM_8_1_1_1_1_1_1_1_1_1_1_1_1_1_1_1_1_1_1_1_1_1_1_1_1_1_1_1_1_1_1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/>
          <p:nvPr/>
        </p:nvSpPr>
        <p:spPr>
          <a:xfrm flipH="1" rot="5400000">
            <a:off x="6563025" y="657900"/>
            <a:ext cx="1358100" cy="37926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3" name="Google Shape;223;p20"/>
          <p:cNvSpPr/>
          <p:nvPr/>
        </p:nvSpPr>
        <p:spPr>
          <a:xfrm rot="5400000">
            <a:off x="580600" y="1292250"/>
            <a:ext cx="1358100" cy="25239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descr="A landscape shot of a marshland at dusk. " id="224" name="Google Shape;224;p20"/>
          <p:cNvPicPr preferRelativeResize="0"/>
          <p:nvPr/>
        </p:nvPicPr>
        <p:blipFill rotWithShape="1">
          <a:blip r:embed="rId2">
            <a:alphaModFix/>
          </a:blip>
          <a:srcRect b="14407" l="0" r="0" t="14414"/>
          <a:stretch/>
        </p:blipFill>
        <p:spPr>
          <a:xfrm>
            <a:off x="2517525" y="1875150"/>
            <a:ext cx="2822973" cy="135000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>
            <p:ph idx="1" type="body"/>
          </p:nvPr>
        </p:nvSpPr>
        <p:spPr>
          <a:xfrm>
            <a:off x="32729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6" name="Google Shape;226;p20"/>
          <p:cNvSpPr txBox="1"/>
          <p:nvPr>
            <p:ph idx="2" type="body"/>
          </p:nvPr>
        </p:nvSpPr>
        <p:spPr>
          <a:xfrm>
            <a:off x="18065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7" name="Google Shape;227;p20"/>
          <p:cNvSpPr txBox="1"/>
          <p:nvPr>
            <p:ph idx="3" type="body"/>
          </p:nvPr>
        </p:nvSpPr>
        <p:spPr>
          <a:xfrm>
            <a:off x="335425" y="1201925"/>
            <a:ext cx="11499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8" name="Google Shape;228;p20"/>
          <p:cNvSpPr txBox="1"/>
          <p:nvPr>
            <p:ph idx="4" type="body"/>
          </p:nvPr>
        </p:nvSpPr>
        <p:spPr>
          <a:xfrm>
            <a:off x="4721725" y="12297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9" name="Google Shape;229;p20"/>
          <p:cNvSpPr txBox="1"/>
          <p:nvPr>
            <p:ph idx="5" type="body"/>
          </p:nvPr>
        </p:nvSpPr>
        <p:spPr>
          <a:xfrm>
            <a:off x="6193925" y="26235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0" name="Google Shape;230;p20"/>
          <p:cNvSpPr txBox="1"/>
          <p:nvPr>
            <p:ph idx="6" type="subTitle"/>
          </p:nvPr>
        </p:nvSpPr>
        <p:spPr>
          <a:xfrm>
            <a:off x="32730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1" name="Google Shape;231;p20"/>
          <p:cNvSpPr txBox="1"/>
          <p:nvPr>
            <p:ph idx="7" type="subTitle"/>
          </p:nvPr>
        </p:nvSpPr>
        <p:spPr>
          <a:xfrm>
            <a:off x="18066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2" name="Google Shape;232;p20"/>
          <p:cNvSpPr txBox="1"/>
          <p:nvPr>
            <p:ph idx="8" type="subTitle"/>
          </p:nvPr>
        </p:nvSpPr>
        <p:spPr>
          <a:xfrm>
            <a:off x="335513" y="19137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3" name="Google Shape;233;p20"/>
          <p:cNvSpPr txBox="1"/>
          <p:nvPr>
            <p:ph idx="9" type="subTitle"/>
          </p:nvPr>
        </p:nvSpPr>
        <p:spPr>
          <a:xfrm>
            <a:off x="4721813" y="19415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4" name="Google Shape;234;p20"/>
          <p:cNvSpPr txBox="1"/>
          <p:nvPr>
            <p:ph idx="13" type="subTitle"/>
          </p:nvPr>
        </p:nvSpPr>
        <p:spPr>
          <a:xfrm>
            <a:off x="6194013" y="33353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5" name="Google Shape;235;p20"/>
          <p:cNvSpPr txBox="1"/>
          <p:nvPr>
            <p:ph idx="14" type="subTitle"/>
          </p:nvPr>
        </p:nvSpPr>
        <p:spPr>
          <a:xfrm>
            <a:off x="7658713" y="4312650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6" name="Google Shape;236;p20"/>
          <p:cNvSpPr txBox="1"/>
          <p:nvPr>
            <p:ph idx="15" type="body"/>
          </p:nvPr>
        </p:nvSpPr>
        <p:spPr>
          <a:xfrm>
            <a:off x="7658625" y="3600800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7" name="Google Shape;237;p2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38" name="Google Shape;238;p20"/>
          <p:cNvSpPr txBox="1"/>
          <p:nvPr>
            <p:ph idx="16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39" name="Google Shape;239;p20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2">
  <p:cSld name="CUSTOM_8_1_1_1_1_1_1_1_1_1_1_1_1_1_1_1_1_1_1_1_1_1_1_1_1_1_1_1_1_1_1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"/>
          <p:cNvSpPr/>
          <p:nvPr/>
        </p:nvSpPr>
        <p:spPr>
          <a:xfrm flipH="1">
            <a:off x="596130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42" name="Google Shape;242;p21"/>
          <p:cNvSpPr/>
          <p:nvPr/>
        </p:nvSpPr>
        <p:spPr>
          <a:xfrm rot="5400000">
            <a:off x="3888975" y="-2016150"/>
            <a:ext cx="1358100" cy="9140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3" name="Google Shape;243;p2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244" name="Google Shape;244;p2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45" name="Google Shape;245;p21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6" name="Google Shape;246;p21"/>
          <p:cNvSpPr txBox="1"/>
          <p:nvPr>
            <p:ph idx="1" type="subTitle"/>
          </p:nvPr>
        </p:nvSpPr>
        <p:spPr>
          <a:xfrm>
            <a:off x="4866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7" name="Google Shape;247;p21"/>
          <p:cNvSpPr txBox="1"/>
          <p:nvPr>
            <p:ph idx="4" type="body"/>
          </p:nvPr>
        </p:nvSpPr>
        <p:spPr>
          <a:xfrm>
            <a:off x="4866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48" name="Google Shape;248;p21"/>
          <p:cNvSpPr txBox="1"/>
          <p:nvPr>
            <p:ph idx="5" type="subTitle"/>
          </p:nvPr>
        </p:nvSpPr>
        <p:spPr>
          <a:xfrm>
            <a:off x="3431225" y="166807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9" name="Google Shape;249;p21"/>
          <p:cNvSpPr txBox="1"/>
          <p:nvPr>
            <p:ph idx="6" type="body"/>
          </p:nvPr>
        </p:nvSpPr>
        <p:spPr>
          <a:xfrm>
            <a:off x="3431250" y="198448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0" name="Google Shape;250;p21"/>
          <p:cNvSpPr txBox="1"/>
          <p:nvPr>
            <p:ph idx="7" type="subTitle"/>
          </p:nvPr>
        </p:nvSpPr>
        <p:spPr>
          <a:xfrm>
            <a:off x="63758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51" name="Google Shape;251;p21"/>
          <p:cNvSpPr txBox="1"/>
          <p:nvPr>
            <p:ph idx="8" type="body"/>
          </p:nvPr>
        </p:nvSpPr>
        <p:spPr>
          <a:xfrm>
            <a:off x="63758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- Alt 1">
  <p:cSld name="CUSTOM_8_1_1_1_1_1_1_1_1_1_1_1_1_1_1_1_1_1_1_1_1_1_1_1_1_1_1_1_1_1_1_1_1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"/>
          <p:cNvSpPr/>
          <p:nvPr/>
        </p:nvSpPr>
        <p:spPr>
          <a:xfrm>
            <a:off x="7529650" y="250"/>
            <a:ext cx="1614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54" name="Google Shape;254;p2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5" name="Google Shape;255;p2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6" name="Google Shape;256;p22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7" name="Google Shape;257;p22"/>
          <p:cNvSpPr txBox="1"/>
          <p:nvPr>
            <p:ph idx="1" type="body"/>
          </p:nvPr>
        </p:nvSpPr>
        <p:spPr>
          <a:xfrm>
            <a:off x="230075" y="990150"/>
            <a:ext cx="36129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8" name="Google Shape;258;p22"/>
          <p:cNvSpPr txBox="1"/>
          <p:nvPr>
            <p:ph idx="4" type="subTitle"/>
          </p:nvPr>
        </p:nvSpPr>
        <p:spPr>
          <a:xfrm>
            <a:off x="228600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59" name="Google Shape;259;p22"/>
          <p:cNvSpPr txBox="1"/>
          <p:nvPr>
            <p:ph idx="5" type="subTitle"/>
          </p:nvPr>
        </p:nvSpPr>
        <p:spPr>
          <a:xfrm>
            <a:off x="230075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6" type="subTitle"/>
          </p:nvPr>
        </p:nvSpPr>
        <p:spPr>
          <a:xfrm>
            <a:off x="1983338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1" name="Google Shape;261;p22"/>
          <p:cNvSpPr txBox="1"/>
          <p:nvPr>
            <p:ph idx="7" type="subTitle"/>
          </p:nvPr>
        </p:nvSpPr>
        <p:spPr>
          <a:xfrm>
            <a:off x="1984813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2" name="Google Shape;262;p22"/>
          <p:cNvSpPr txBox="1"/>
          <p:nvPr>
            <p:ph idx="8" type="subTitle"/>
          </p:nvPr>
        </p:nvSpPr>
        <p:spPr>
          <a:xfrm>
            <a:off x="3739563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3" name="Google Shape;263;p22"/>
          <p:cNvSpPr txBox="1"/>
          <p:nvPr>
            <p:ph idx="9" type="subTitle"/>
          </p:nvPr>
        </p:nvSpPr>
        <p:spPr>
          <a:xfrm>
            <a:off x="3741038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13" type="subTitle"/>
          </p:nvPr>
        </p:nvSpPr>
        <p:spPr>
          <a:xfrm>
            <a:off x="228600" y="3211175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65" name="Google Shape;265;p22"/>
          <p:cNvSpPr txBox="1"/>
          <p:nvPr>
            <p:ph idx="14" type="subTitle"/>
          </p:nvPr>
        </p:nvSpPr>
        <p:spPr>
          <a:xfrm>
            <a:off x="228600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6" name="Google Shape;266;p22"/>
          <p:cNvSpPr txBox="1"/>
          <p:nvPr>
            <p:ph idx="15" type="subTitle"/>
          </p:nvPr>
        </p:nvSpPr>
        <p:spPr>
          <a:xfrm>
            <a:off x="230075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7" name="Google Shape;267;p22"/>
          <p:cNvSpPr txBox="1"/>
          <p:nvPr>
            <p:ph idx="16" type="subTitle"/>
          </p:nvPr>
        </p:nvSpPr>
        <p:spPr>
          <a:xfrm>
            <a:off x="1983338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8" name="Google Shape;268;p22"/>
          <p:cNvSpPr txBox="1"/>
          <p:nvPr>
            <p:ph idx="17" type="subTitle"/>
          </p:nvPr>
        </p:nvSpPr>
        <p:spPr>
          <a:xfrm>
            <a:off x="1984813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9" name="Google Shape;269;p22"/>
          <p:cNvSpPr txBox="1"/>
          <p:nvPr>
            <p:ph idx="18" type="subTitle"/>
          </p:nvPr>
        </p:nvSpPr>
        <p:spPr>
          <a:xfrm>
            <a:off x="3739563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70" name="Google Shape;270;p22"/>
          <p:cNvSpPr txBox="1"/>
          <p:nvPr>
            <p:ph idx="19" type="subTitle"/>
          </p:nvPr>
        </p:nvSpPr>
        <p:spPr>
          <a:xfrm>
            <a:off x="3741038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1" name="Google Shape;271;p22"/>
          <p:cNvSpPr txBox="1"/>
          <p:nvPr>
            <p:ph idx="20" type="subTitle"/>
          </p:nvPr>
        </p:nvSpPr>
        <p:spPr>
          <a:xfrm>
            <a:off x="228600" y="1718663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Alt 1">
  <p:cSld name="CUSTOM_8_1_1_1_1_1_1_1_1_1_1_1_1_1_1_1_1_1_1_1_1_1_1_1_1_1_1_1_1_1_1_1_1_1_1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74" name="Google Shape;274;p2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75" name="Google Shape;275;p23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76" name="Google Shape;276;p23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7" name="Google Shape;277;p23"/>
          <p:cNvSpPr txBox="1"/>
          <p:nvPr>
            <p:ph idx="4" type="subTitle"/>
          </p:nvPr>
        </p:nvSpPr>
        <p:spPr>
          <a:xfrm>
            <a:off x="419070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78" name="Google Shape;278;p23"/>
          <p:cNvSpPr txBox="1"/>
          <p:nvPr>
            <p:ph idx="5" type="subTitle"/>
          </p:nvPr>
        </p:nvSpPr>
        <p:spPr>
          <a:xfrm>
            <a:off x="419075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9" name="Google Shape;279;p23"/>
          <p:cNvSpPr txBox="1"/>
          <p:nvPr>
            <p:ph idx="6" type="subTitle"/>
          </p:nvPr>
        </p:nvSpPr>
        <p:spPr>
          <a:xfrm>
            <a:off x="419076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7" type="subTitle"/>
          </p:nvPr>
        </p:nvSpPr>
        <p:spPr>
          <a:xfrm>
            <a:off x="26244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1" name="Google Shape;281;p23"/>
          <p:cNvSpPr txBox="1"/>
          <p:nvPr>
            <p:ph idx="8" type="subTitle"/>
          </p:nvPr>
        </p:nvSpPr>
        <p:spPr>
          <a:xfrm>
            <a:off x="26244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2" name="Google Shape;282;p23"/>
          <p:cNvSpPr txBox="1"/>
          <p:nvPr>
            <p:ph idx="9" type="subTitle"/>
          </p:nvPr>
        </p:nvSpPr>
        <p:spPr>
          <a:xfrm>
            <a:off x="26244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3" name="Google Shape;283;p23"/>
          <p:cNvSpPr txBox="1"/>
          <p:nvPr>
            <p:ph idx="13" type="subTitle"/>
          </p:nvPr>
        </p:nvSpPr>
        <p:spPr>
          <a:xfrm>
            <a:off x="4815495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4" name="Google Shape;284;p23"/>
          <p:cNvSpPr txBox="1"/>
          <p:nvPr>
            <p:ph idx="14" type="subTitle"/>
          </p:nvPr>
        </p:nvSpPr>
        <p:spPr>
          <a:xfrm>
            <a:off x="4815500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5" name="Google Shape;285;p23"/>
          <p:cNvSpPr txBox="1"/>
          <p:nvPr>
            <p:ph idx="15" type="subTitle"/>
          </p:nvPr>
        </p:nvSpPr>
        <p:spPr>
          <a:xfrm>
            <a:off x="4815501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6" name="Google Shape;286;p23"/>
          <p:cNvSpPr txBox="1"/>
          <p:nvPr>
            <p:ph idx="16" type="subTitle"/>
          </p:nvPr>
        </p:nvSpPr>
        <p:spPr>
          <a:xfrm>
            <a:off x="70066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7" name="Google Shape;287;p23"/>
          <p:cNvSpPr txBox="1"/>
          <p:nvPr>
            <p:ph idx="17" type="subTitle"/>
          </p:nvPr>
        </p:nvSpPr>
        <p:spPr>
          <a:xfrm>
            <a:off x="70066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8" name="Google Shape;288;p23"/>
          <p:cNvSpPr txBox="1"/>
          <p:nvPr>
            <p:ph idx="18" type="subTitle"/>
          </p:nvPr>
        </p:nvSpPr>
        <p:spPr>
          <a:xfrm>
            <a:off x="70066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2">
  <p:cSld name="CUSTOM_8_1_1_1_1_1_1_1_1_1_1_1_1_1_1_1_1_1_1_1_1_1_1_1_1_1_1_1_1_1_1_1_1_1_1_2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1" name="Google Shape;291;p24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2" name="Google Shape;292;p2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93" name="Google Shape;293;p2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94" name="Google Shape;294;p2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5" name="Google Shape;295;p24"/>
          <p:cNvSpPr txBox="1"/>
          <p:nvPr>
            <p:ph idx="1" type="subTitle"/>
          </p:nvPr>
        </p:nvSpPr>
        <p:spPr>
          <a:xfrm>
            <a:off x="3238050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6" name="Google Shape;296;p24"/>
          <p:cNvSpPr txBox="1"/>
          <p:nvPr>
            <p:ph idx="4" type="subTitle"/>
          </p:nvPr>
        </p:nvSpPr>
        <p:spPr>
          <a:xfrm>
            <a:off x="4056600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7" name="Google Shape;297;p24"/>
          <p:cNvSpPr txBox="1"/>
          <p:nvPr>
            <p:ph idx="5" type="subTitle"/>
          </p:nvPr>
        </p:nvSpPr>
        <p:spPr>
          <a:xfrm>
            <a:off x="3457950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98" name="Google Shape;298;p24"/>
          <p:cNvSpPr txBox="1"/>
          <p:nvPr>
            <p:ph idx="6" type="subTitle"/>
          </p:nvPr>
        </p:nvSpPr>
        <p:spPr>
          <a:xfrm>
            <a:off x="803225" y="18179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9" name="Google Shape;299;p24"/>
          <p:cNvSpPr txBox="1"/>
          <p:nvPr>
            <p:ph idx="7" type="subTitle"/>
          </p:nvPr>
        </p:nvSpPr>
        <p:spPr>
          <a:xfrm>
            <a:off x="1621775" y="27017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24"/>
          <p:cNvSpPr txBox="1"/>
          <p:nvPr>
            <p:ph idx="8" type="subTitle"/>
          </p:nvPr>
        </p:nvSpPr>
        <p:spPr>
          <a:xfrm>
            <a:off x="1023125" y="22466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1" name="Google Shape;301;p24"/>
          <p:cNvSpPr txBox="1"/>
          <p:nvPr>
            <p:ph idx="9" type="subTitle"/>
          </p:nvPr>
        </p:nvSpPr>
        <p:spPr>
          <a:xfrm>
            <a:off x="5672875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02" name="Google Shape;302;p24"/>
          <p:cNvSpPr txBox="1"/>
          <p:nvPr>
            <p:ph idx="13" type="subTitle"/>
          </p:nvPr>
        </p:nvSpPr>
        <p:spPr>
          <a:xfrm>
            <a:off x="6491425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3" name="Google Shape;303;p24"/>
          <p:cNvSpPr txBox="1"/>
          <p:nvPr>
            <p:ph idx="14" type="subTitle"/>
          </p:nvPr>
        </p:nvSpPr>
        <p:spPr>
          <a:xfrm>
            <a:off x="5892775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2">
  <p:cSld name="CUSTOM_8_1_1_1_1_1_1_1_1_1_1_1_1_1_1_1_1_1_1_1_1_1_1_1_1_1_1_1_1_1_1_1_1_1_1_1_1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"/>
          <p:cNvSpPr/>
          <p:nvPr/>
        </p:nvSpPr>
        <p:spPr>
          <a:xfrm rot="5400000">
            <a:off x="5473500" y="0"/>
            <a:ext cx="3670500" cy="3670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06" name="Google Shape;306;p2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7" name="Google Shape;307;p2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8" name="Google Shape;308;p25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9" name="Google Shape;309;p25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0" name="Google Shape;310;p25"/>
          <p:cNvSpPr txBox="1"/>
          <p:nvPr>
            <p:ph idx="4" type="title"/>
          </p:nvPr>
        </p:nvSpPr>
        <p:spPr>
          <a:xfrm>
            <a:off x="91525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1" name="Google Shape;311;p25"/>
          <p:cNvSpPr txBox="1"/>
          <p:nvPr>
            <p:ph idx="5" type="title"/>
          </p:nvPr>
        </p:nvSpPr>
        <p:spPr>
          <a:xfrm>
            <a:off x="2849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2" name="Google Shape;312;p25"/>
          <p:cNvSpPr txBox="1"/>
          <p:nvPr>
            <p:ph idx="6" type="title"/>
          </p:nvPr>
        </p:nvSpPr>
        <p:spPr>
          <a:xfrm>
            <a:off x="429895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3" name="Google Shape;313;p25"/>
          <p:cNvSpPr txBox="1"/>
          <p:nvPr>
            <p:ph idx="7" type="title"/>
          </p:nvPr>
        </p:nvSpPr>
        <p:spPr>
          <a:xfrm>
            <a:off x="7298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4" name="Google Shape;314;p25"/>
          <p:cNvSpPr txBox="1"/>
          <p:nvPr>
            <p:ph idx="8" type="subTitle"/>
          </p:nvPr>
        </p:nvSpPr>
        <p:spPr>
          <a:xfrm>
            <a:off x="442900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15" name="Google Shape;315;p25"/>
          <p:cNvSpPr txBox="1"/>
          <p:nvPr>
            <p:ph idx="9" type="subTitle"/>
          </p:nvPr>
        </p:nvSpPr>
        <p:spPr>
          <a:xfrm>
            <a:off x="442900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6" name="Google Shape;316;p25"/>
          <p:cNvSpPr txBox="1"/>
          <p:nvPr>
            <p:ph idx="13" type="body"/>
          </p:nvPr>
        </p:nvSpPr>
        <p:spPr>
          <a:xfrm>
            <a:off x="442898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17" name="Google Shape;317;p25"/>
          <p:cNvSpPr txBox="1"/>
          <p:nvPr>
            <p:ph idx="14" type="subTitle"/>
          </p:nvPr>
        </p:nvSpPr>
        <p:spPr>
          <a:xfrm>
            <a:off x="3201413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18" name="Google Shape;318;p25"/>
          <p:cNvSpPr txBox="1"/>
          <p:nvPr>
            <p:ph idx="15" type="subTitle"/>
          </p:nvPr>
        </p:nvSpPr>
        <p:spPr>
          <a:xfrm>
            <a:off x="3201413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9" name="Google Shape;319;p25"/>
          <p:cNvSpPr txBox="1"/>
          <p:nvPr>
            <p:ph idx="16" type="body"/>
          </p:nvPr>
        </p:nvSpPr>
        <p:spPr>
          <a:xfrm>
            <a:off x="3201411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20" name="Google Shape;320;p25"/>
          <p:cNvSpPr txBox="1"/>
          <p:nvPr>
            <p:ph idx="17" type="subTitle"/>
          </p:nvPr>
        </p:nvSpPr>
        <p:spPr>
          <a:xfrm>
            <a:off x="4652727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21" name="Google Shape;321;p25"/>
          <p:cNvSpPr txBox="1"/>
          <p:nvPr>
            <p:ph idx="18" type="subTitle"/>
          </p:nvPr>
        </p:nvSpPr>
        <p:spPr>
          <a:xfrm>
            <a:off x="4652727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19" type="body"/>
          </p:nvPr>
        </p:nvSpPr>
        <p:spPr>
          <a:xfrm>
            <a:off x="4652725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20" type="subTitle"/>
          </p:nvPr>
        </p:nvSpPr>
        <p:spPr>
          <a:xfrm>
            <a:off x="7646687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24" name="Google Shape;324;p25"/>
          <p:cNvSpPr txBox="1"/>
          <p:nvPr>
            <p:ph idx="21" type="subTitle"/>
          </p:nvPr>
        </p:nvSpPr>
        <p:spPr>
          <a:xfrm>
            <a:off x="7646687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5" name="Google Shape;325;p25"/>
          <p:cNvSpPr txBox="1"/>
          <p:nvPr>
            <p:ph idx="22" type="body"/>
          </p:nvPr>
        </p:nvSpPr>
        <p:spPr>
          <a:xfrm>
            <a:off x="7646686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- Alt 2">
  <p:cSld name="CUSTOM_8_1_1_1_1_1_1_1_1_1_1_1_1_1_1_1_1_1_1_1_1_1_1_1_1_1_1_1_1_1_1_2_1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6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8" name="Google Shape;328;p26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9" name="Google Shape;329;p2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0" name="Google Shape;330;p2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1" name="Google Shape;331;p26"/>
          <p:cNvSpPr/>
          <p:nvPr/>
        </p:nvSpPr>
        <p:spPr>
          <a:xfrm>
            <a:off x="228650" y="457200"/>
            <a:ext cx="8686800" cy="4226400"/>
          </a:xfrm>
          <a:prstGeom prst="roundRect">
            <a:avLst>
              <a:gd fmla="val 682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v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32" name="Google Shape;332;p26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3" name="Google Shape;333;p26"/>
          <p:cNvSpPr txBox="1"/>
          <p:nvPr>
            <p:ph idx="1" type="subTitle"/>
          </p:nvPr>
        </p:nvSpPr>
        <p:spPr>
          <a:xfrm>
            <a:off x="1643100" y="2881050"/>
            <a:ext cx="5857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6" name="Google Shape;336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5" name="Google Shape;345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0" name="Google Shape;350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5" name="Google Shape;355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6" name="Google Shape;356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1" name="Google Shape;361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3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0" name="Google Shape;370;p3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3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4" name="Google Shape;374;p3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7" name="Google Shape;377;p4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4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9" name="Google Shape;379;p4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4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4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4" name="Google Shape;384;p4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85" name="Google Shape;385;p4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4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4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4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4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4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4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4" name="Google Shape;394;p4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5" name="Google Shape;395;p4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4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4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7" name="Google Shape;40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4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9" name="Google Shape;409;p4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2" name="Google Shape;412;p4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5" name="Google Shape;415;p4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4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7" name="Google Shape;41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4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4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0" name="Google Shape;420;p4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4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4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47" Type="http://schemas.openxmlformats.org/officeDocument/2006/relationships/theme" Target="../theme/theme1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228600" y="2881050"/>
            <a:ext cx="42966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3" type="title"/>
          </p:nvPr>
        </p:nvSpPr>
        <p:spPr>
          <a:xfrm>
            <a:off x="371825" y="149825"/>
            <a:ext cx="62124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Figtree"/>
              <a:buNone/>
              <a:defRPr sz="5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065">
          <p15:clr>
            <a:srgbClr val="E46962"/>
          </p15:clr>
        </p15:guide>
        <p15:guide id="8" pos="1010">
          <p15:clr>
            <a:srgbClr val="E46962"/>
          </p15:clr>
        </p15:guide>
        <p15:guide id="9" pos="4695">
          <p15:clr>
            <a:srgbClr val="E46962"/>
          </p15:clr>
        </p15:guide>
        <p15:guide id="10" pos="4750">
          <p15:clr>
            <a:srgbClr val="E46962"/>
          </p15:clr>
        </p15:guide>
        <p15:guide id="11" pos="3774">
          <p15:clr>
            <a:srgbClr val="E46962"/>
          </p15:clr>
        </p15:guide>
        <p15:guide id="12" pos="3828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8"/>
          <p:cNvSpPr txBox="1"/>
          <p:nvPr>
            <p:ph idx="3" type="title"/>
          </p:nvPr>
        </p:nvSpPr>
        <p:spPr>
          <a:xfrm>
            <a:off x="354405" y="2122456"/>
            <a:ext cx="8461500" cy="59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B4A7D6"/>
                </a:solidFill>
              </a:rPr>
              <a:t>Product Performance &amp; Sales Drivers </a:t>
            </a:r>
            <a:endParaRPr sz="4000">
              <a:solidFill>
                <a:srgbClr val="B4A7D6"/>
              </a:solidFill>
            </a:endParaRPr>
          </a:p>
        </p:txBody>
      </p:sp>
      <p:sp>
        <p:nvSpPr>
          <p:cNvPr id="439" name="Google Shape;439;p48"/>
          <p:cNvSpPr txBox="1"/>
          <p:nvPr>
            <p:ph idx="1" type="subTitle"/>
          </p:nvPr>
        </p:nvSpPr>
        <p:spPr>
          <a:xfrm>
            <a:off x="648660" y="634450"/>
            <a:ext cx="9214500" cy="8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EAD1DC"/>
                </a:solidFill>
              </a:rPr>
              <a:t>Apex Planet Data Analytics Internship - Task 4 </a:t>
            </a:r>
            <a:endParaRPr sz="3000">
              <a:solidFill>
                <a:srgbClr val="EAD1DC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48"/>
          <p:cNvSpPr txBox="1"/>
          <p:nvPr>
            <p:ph idx="1" type="subTitle"/>
          </p:nvPr>
        </p:nvSpPr>
        <p:spPr>
          <a:xfrm>
            <a:off x="1448406" y="1231325"/>
            <a:ext cx="7602600" cy="81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EAD1DC"/>
                </a:solidFill>
              </a:rPr>
              <a:t>Data Storytelling &amp; Statistical Validation </a:t>
            </a:r>
            <a:endParaRPr sz="2700">
              <a:solidFill>
                <a:srgbClr val="EAD1DC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48"/>
          <p:cNvSpPr txBox="1"/>
          <p:nvPr/>
        </p:nvSpPr>
        <p:spPr>
          <a:xfrm>
            <a:off x="370401" y="3337150"/>
            <a:ext cx="3742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A4C2F4"/>
                </a:solidFill>
                <a:latin typeface="Figtree"/>
                <a:ea typeface="Figtree"/>
                <a:cs typeface="Figtree"/>
                <a:sym typeface="Figtree"/>
              </a:rPr>
              <a:t>Presented by:</a:t>
            </a:r>
            <a:r>
              <a:rPr lang="en" sz="1800">
                <a:solidFill>
                  <a:srgbClr val="A4C2F4"/>
                </a:solidFill>
                <a:latin typeface="Figtree"/>
                <a:ea typeface="Figtree"/>
                <a:cs typeface="Figtree"/>
                <a:sym typeface="Figtree"/>
              </a:rPr>
              <a:t> Sushma Sakry </a:t>
            </a:r>
            <a:endParaRPr sz="1800">
              <a:solidFill>
                <a:srgbClr val="A4C2F4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9"/>
          <p:cNvSpPr txBox="1"/>
          <p:nvPr>
            <p:ph idx="4294967295" type="title"/>
          </p:nvPr>
        </p:nvSpPr>
        <p:spPr>
          <a:xfrm>
            <a:off x="217769" y="368240"/>
            <a:ext cx="86919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Business Objective </a:t>
            </a:r>
            <a:endParaRPr b="1" sz="20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The objective of this analysis is to understand the major factors influencing sales performance across products, cities, and time. </a:t>
            </a:r>
            <a:endParaRPr sz="1400"/>
          </a:p>
        </p:txBody>
      </p:sp>
      <p:sp>
        <p:nvSpPr>
          <p:cNvPr id="447" name="Google Shape;447;p49"/>
          <p:cNvSpPr txBox="1"/>
          <p:nvPr/>
        </p:nvSpPr>
        <p:spPr>
          <a:xfrm>
            <a:off x="216513" y="1532166"/>
            <a:ext cx="4156200" cy="25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The analysis combines:</a:t>
            </a:r>
            <a:endParaRPr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</a:pPr>
            <a:r>
              <a:rPr lang="en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Product performance analysis</a:t>
            </a:r>
            <a:endParaRPr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</a:pPr>
            <a:r>
              <a:rPr lang="en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Transaction volume analysis</a:t>
            </a:r>
            <a:endParaRPr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</a:pPr>
            <a:r>
              <a:rPr lang="en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Sales value analysis</a:t>
            </a:r>
            <a:endParaRPr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</a:pPr>
            <a:r>
              <a:rPr lang="en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City-level performance</a:t>
            </a:r>
            <a:endParaRPr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</a:pPr>
            <a:r>
              <a:rPr lang="en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Monthly sales trends</a:t>
            </a:r>
            <a:endParaRPr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</a:pPr>
            <a:r>
              <a:rPr lang="en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Statistical validation of a key business hypothesis</a:t>
            </a:r>
            <a:endParaRPr b="1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48" name="Google Shape;448;p49"/>
          <p:cNvSpPr txBox="1"/>
          <p:nvPr>
            <p:ph idx="2" type="body"/>
          </p:nvPr>
        </p:nvSpPr>
        <p:spPr>
          <a:xfrm>
            <a:off x="4546725" y="1494263"/>
            <a:ext cx="4337700" cy="318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latin typeface="Figtree"/>
                <a:ea typeface="Figtree"/>
                <a:cs typeface="Figtree"/>
                <a:sym typeface="Figtree"/>
              </a:rPr>
              <a:t>Key Business Questions </a:t>
            </a:r>
            <a:endParaRPr b="1" sz="1400"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Figtree"/>
              <a:buAutoNum type="arabicPeriod"/>
            </a:pPr>
            <a:r>
              <a:rPr lang="en" sz="1400">
                <a:latin typeface="Figtree"/>
                <a:ea typeface="Figtree"/>
                <a:cs typeface="Figtree"/>
                <a:sym typeface="Figtree"/>
              </a:rPr>
              <a:t>Which products generate the highest sales?</a:t>
            </a:r>
            <a:endParaRPr sz="1400"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"/>
              <a:buAutoNum type="arabicPeriod"/>
            </a:pPr>
            <a:r>
              <a:rPr lang="en" sz="1400">
                <a:latin typeface="Figtree"/>
                <a:ea typeface="Figtree"/>
                <a:cs typeface="Figtree"/>
                <a:sym typeface="Figtree"/>
              </a:rPr>
              <a:t>Is sales performance influenced more by transaction volume or transaction value?</a:t>
            </a:r>
            <a:endParaRPr sz="1400"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"/>
              <a:buAutoNum type="arabicPeriod"/>
            </a:pPr>
            <a:r>
              <a:rPr lang="en" sz="1400">
                <a:latin typeface="Figtree"/>
                <a:ea typeface="Figtree"/>
                <a:cs typeface="Figtree"/>
                <a:sym typeface="Figtree"/>
              </a:rPr>
              <a:t>Which products have the highest units sold?</a:t>
            </a:r>
            <a:endParaRPr sz="1400"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"/>
              <a:buAutoNum type="arabicPeriod"/>
            </a:pPr>
            <a:r>
              <a:rPr lang="en" sz="1400">
                <a:latin typeface="Figtree"/>
                <a:ea typeface="Figtree"/>
                <a:cs typeface="Figtree"/>
                <a:sym typeface="Figtree"/>
              </a:rPr>
              <a:t>Which products have the highest average transaction value?</a:t>
            </a:r>
            <a:endParaRPr sz="1400"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"/>
              <a:buAutoNum type="arabicPeriod"/>
            </a:pPr>
            <a:r>
              <a:rPr lang="en" sz="1400">
                <a:latin typeface="Figtree"/>
                <a:ea typeface="Figtree"/>
                <a:cs typeface="Figtree"/>
                <a:sym typeface="Figtree"/>
              </a:rPr>
              <a:t>How does product performance vary across cities?</a:t>
            </a:r>
            <a:endParaRPr sz="1400"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"/>
              <a:buAutoNum type="arabicPeriod"/>
            </a:pPr>
            <a:r>
              <a:rPr lang="en" sz="1400">
                <a:latin typeface="Figtree"/>
                <a:ea typeface="Figtree"/>
                <a:cs typeface="Figtree"/>
                <a:sym typeface="Figtree"/>
              </a:rPr>
              <a:t>Does the observed difference in average transaction value between selected products show statistical significance?</a:t>
            </a:r>
            <a:endParaRPr b="1" sz="1400"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0"/>
          <p:cNvSpPr/>
          <p:nvPr/>
        </p:nvSpPr>
        <p:spPr>
          <a:xfrm>
            <a:off x="6176857" y="1479550"/>
            <a:ext cx="2798700" cy="3270900"/>
          </a:xfrm>
          <a:prstGeom prst="roundRect">
            <a:avLst>
              <a:gd fmla="val 76" name="adj"/>
            </a:avLst>
          </a:prstGeom>
          <a:solidFill>
            <a:schemeClr val="lt1"/>
          </a:solidFill>
          <a:ln>
            <a:noFill/>
          </a:ln>
          <a:effectLst>
            <a:outerShdw blurRad="185738" rotWithShape="0" algn="bl">
              <a:schemeClr val="lt2">
                <a:alpha val="65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54" name="Google Shape;454;p50"/>
          <p:cNvSpPr/>
          <p:nvPr/>
        </p:nvSpPr>
        <p:spPr>
          <a:xfrm>
            <a:off x="3227323" y="1466650"/>
            <a:ext cx="2798700" cy="3270900"/>
          </a:xfrm>
          <a:prstGeom prst="roundRect">
            <a:avLst>
              <a:gd fmla="val 76" name="adj"/>
            </a:avLst>
          </a:prstGeom>
          <a:solidFill>
            <a:schemeClr val="lt1"/>
          </a:solidFill>
          <a:ln>
            <a:noFill/>
          </a:ln>
          <a:effectLst>
            <a:outerShdw blurRad="185738" rotWithShape="0" algn="bl">
              <a:schemeClr val="lt2">
                <a:alpha val="65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55" name="Google Shape;455;p50"/>
          <p:cNvSpPr/>
          <p:nvPr/>
        </p:nvSpPr>
        <p:spPr>
          <a:xfrm>
            <a:off x="135575" y="1447125"/>
            <a:ext cx="2927700" cy="3270900"/>
          </a:xfrm>
          <a:prstGeom prst="roundRect">
            <a:avLst>
              <a:gd fmla="val 76" name="adj"/>
            </a:avLst>
          </a:prstGeom>
          <a:solidFill>
            <a:schemeClr val="lt1"/>
          </a:solidFill>
          <a:ln>
            <a:noFill/>
          </a:ln>
          <a:effectLst>
            <a:outerShdw blurRad="185738" rotWithShape="0" algn="bl">
              <a:schemeClr val="lt2">
                <a:alpha val="65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56" name="Google Shape;456;p50"/>
          <p:cNvSpPr txBox="1"/>
          <p:nvPr>
            <p:ph idx="1" type="body"/>
          </p:nvPr>
        </p:nvSpPr>
        <p:spPr>
          <a:xfrm>
            <a:off x="135575" y="1419761"/>
            <a:ext cx="2798700" cy="3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Dataset Details</a:t>
            </a:r>
            <a:endParaRPr b="1" sz="18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D9D2E9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Transactions:</a:t>
            </a:r>
            <a:r>
              <a:rPr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 1,000</a:t>
            </a:r>
            <a:endParaRPr sz="14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Original Columns:</a:t>
            </a:r>
            <a:r>
              <a:rPr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 12</a:t>
            </a:r>
            <a:endParaRPr sz="14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Final Analysis Columns:</a:t>
            </a:r>
            <a:r>
              <a:rPr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 16</a:t>
            </a:r>
            <a:endParaRPr sz="14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Products:</a:t>
            </a:r>
            <a:r>
              <a:rPr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 6</a:t>
            </a:r>
            <a:endParaRPr sz="14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Categories:</a:t>
            </a:r>
            <a:r>
              <a:rPr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 5</a:t>
            </a:r>
            <a:endParaRPr sz="14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Cities:</a:t>
            </a:r>
            <a:r>
              <a:rPr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 9 including Unknown</a:t>
            </a:r>
            <a:endParaRPr sz="14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Date Range:</a:t>
            </a:r>
            <a:r>
              <a:rPr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 January 2025 – January 2026</a:t>
            </a:r>
            <a:endParaRPr sz="14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400"/>
              <a:buFont typeface="Figtree"/>
              <a:buChar char="●"/>
            </a:pPr>
            <a:r>
              <a:rPr b="1"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2025 Records: </a:t>
            </a:r>
            <a:r>
              <a:rPr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995</a:t>
            </a:r>
            <a:endParaRPr sz="14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400"/>
              <a:buFont typeface="Figtree"/>
              <a:buChar char="●"/>
            </a:pPr>
            <a:r>
              <a:rPr b="1"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January 2026 Records: </a:t>
            </a:r>
            <a:r>
              <a:rPr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5 </a:t>
            </a:r>
            <a:endParaRPr sz="14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57" name="Google Shape;457;p50"/>
          <p:cNvSpPr txBox="1"/>
          <p:nvPr>
            <p:ph idx="5" type="title"/>
          </p:nvPr>
        </p:nvSpPr>
        <p:spPr>
          <a:xfrm>
            <a:off x="398250" y="257829"/>
            <a:ext cx="5402700" cy="79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D9D2E9"/>
                </a:solidFill>
              </a:rPr>
              <a:t>Dataset Overview</a:t>
            </a:r>
            <a:endParaRPr b="1" sz="1800">
              <a:solidFill>
                <a:srgbClr val="D9D2E9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D9D2E9"/>
                </a:solidFill>
              </a:rPr>
              <a:t>The analysis uses a cleaned retail sales transaction dataset.</a:t>
            </a:r>
            <a:endParaRPr b="1" sz="1400">
              <a:solidFill>
                <a:srgbClr val="D9D2E9"/>
              </a:solidFill>
            </a:endParaRPr>
          </a:p>
        </p:txBody>
      </p:sp>
      <p:sp>
        <p:nvSpPr>
          <p:cNvPr id="458" name="Google Shape;458;p50"/>
          <p:cNvSpPr txBox="1"/>
          <p:nvPr>
            <p:ph idx="1" type="body"/>
          </p:nvPr>
        </p:nvSpPr>
        <p:spPr>
          <a:xfrm>
            <a:off x="3335176" y="1460225"/>
            <a:ext cx="2465700" cy="32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Key Variables </a:t>
            </a:r>
            <a:endParaRPr b="1" sz="18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D9D2E9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Order Date</a:t>
            </a:r>
            <a:endParaRPr b="1" sz="14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Customer ID</a:t>
            </a:r>
            <a:endParaRPr b="1" sz="14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Age</a:t>
            </a:r>
            <a:endParaRPr b="1" sz="14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Gender</a:t>
            </a:r>
            <a:endParaRPr b="1" sz="14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City</a:t>
            </a:r>
            <a:endParaRPr b="1" sz="14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Product</a:t>
            </a:r>
            <a:endParaRPr b="1" sz="14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Category</a:t>
            </a:r>
            <a:endParaRPr b="1" sz="14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Quantity</a:t>
            </a:r>
            <a:endParaRPr b="1" sz="14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Unit Price</a:t>
            </a:r>
            <a:endParaRPr b="1" sz="14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Total Sales</a:t>
            </a:r>
            <a:endParaRPr b="1" sz="14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59" name="Google Shape;459;p50"/>
          <p:cNvSpPr txBox="1"/>
          <p:nvPr>
            <p:ph idx="1" type="body"/>
          </p:nvPr>
        </p:nvSpPr>
        <p:spPr>
          <a:xfrm>
            <a:off x="6277825" y="1460236"/>
            <a:ext cx="2524200" cy="32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Tools Used </a:t>
            </a:r>
            <a:endParaRPr b="1" sz="18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D9D2E9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Python</a:t>
            </a:r>
            <a:endParaRPr b="1" sz="14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Pandas</a:t>
            </a:r>
            <a:endParaRPr b="1" sz="14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NumPy </a:t>
            </a:r>
            <a:endParaRPr b="1" sz="14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Matplotlib </a:t>
            </a:r>
            <a:endParaRPr b="1" sz="14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Seaborn</a:t>
            </a:r>
            <a:endParaRPr b="1" sz="14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Power BI</a:t>
            </a:r>
            <a:endParaRPr b="1" sz="14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1"/>
          <p:cNvSpPr txBox="1"/>
          <p:nvPr>
            <p:ph idx="3" type="title"/>
          </p:nvPr>
        </p:nvSpPr>
        <p:spPr>
          <a:xfrm>
            <a:off x="408298" y="340651"/>
            <a:ext cx="8421300" cy="12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D9D2E9"/>
                </a:solidFill>
              </a:rPr>
              <a:t>From Data to Business Insigh</a:t>
            </a:r>
            <a:r>
              <a:rPr b="1" lang="en" sz="1800">
                <a:solidFill>
                  <a:srgbClr val="D9D2E9"/>
                </a:solidFill>
              </a:rPr>
              <a:t>t</a:t>
            </a:r>
            <a:endParaRPr b="1" sz="1800">
              <a:solidFill>
                <a:srgbClr val="D9D2E9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D9D2E9"/>
                </a:solidFill>
              </a:rPr>
              <a:t>Approach</a:t>
            </a:r>
            <a:r>
              <a:rPr b="1" lang="en" sz="1300">
                <a:solidFill>
                  <a:srgbClr val="D9D2E9"/>
                </a:solidFill>
              </a:rPr>
              <a:t>: </a:t>
            </a:r>
            <a:r>
              <a:rPr lang="en" sz="1400">
                <a:solidFill>
                  <a:srgbClr val="D9D2E9"/>
                </a:solidFill>
              </a:rPr>
              <a:t>The analysis combines descriptive analytics, visualization, and statistical validation to move from raw transaction data to business insights.</a:t>
            </a:r>
            <a:endParaRPr sz="1400">
              <a:solidFill>
                <a:srgbClr val="D9D2E9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D9D2E9"/>
              </a:solidFill>
            </a:endParaRPr>
          </a:p>
        </p:txBody>
      </p:sp>
      <p:pic>
        <p:nvPicPr>
          <p:cNvPr id="465" name="Google Shape;465;p51" title="4a33e57c-aa43-40b5-b656-b1cd9881ff81.png"/>
          <p:cNvPicPr preferRelativeResize="0"/>
          <p:nvPr/>
        </p:nvPicPr>
        <p:blipFill rotWithShape="1">
          <a:blip r:embed="rId3">
            <a:alphaModFix/>
          </a:blip>
          <a:srcRect b="0" l="0" r="0" t="24466"/>
          <a:stretch/>
        </p:blipFill>
        <p:spPr>
          <a:xfrm>
            <a:off x="199350" y="1812828"/>
            <a:ext cx="8839199" cy="222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2"/>
          <p:cNvSpPr txBox="1"/>
          <p:nvPr>
            <p:ph idx="1" type="subTitle"/>
          </p:nvPr>
        </p:nvSpPr>
        <p:spPr>
          <a:xfrm>
            <a:off x="391756" y="318205"/>
            <a:ext cx="5685900" cy="248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A4C2F4"/>
                </a:solidFill>
                <a:latin typeface="Figtree"/>
                <a:ea typeface="Figtree"/>
                <a:cs typeface="Figtree"/>
                <a:sym typeface="Figtree"/>
              </a:rPr>
              <a:t>Overall Sales Performance</a:t>
            </a:r>
            <a:endParaRPr b="1" sz="2000">
              <a:solidFill>
                <a:srgbClr val="A4C2F4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A4C2F4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A4C2F4"/>
                </a:solidFill>
                <a:latin typeface="Figtree"/>
                <a:ea typeface="Figtree"/>
                <a:cs typeface="Figtree"/>
                <a:sym typeface="Figtree"/>
              </a:rPr>
              <a:t>Key Metrics</a:t>
            </a:r>
            <a:endParaRPr b="1" sz="1400">
              <a:solidFill>
                <a:srgbClr val="A4C2F4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A4C2F4"/>
                </a:solidFill>
                <a:latin typeface="Figtree"/>
                <a:ea typeface="Figtree"/>
                <a:cs typeface="Figtree"/>
                <a:sym typeface="Figtree"/>
              </a:rPr>
              <a:t>Total Sales:</a:t>
            </a:r>
            <a:r>
              <a:rPr lang="en" sz="1200">
                <a:solidFill>
                  <a:srgbClr val="A4C2F4"/>
                </a:solidFill>
                <a:latin typeface="Figtree"/>
                <a:ea typeface="Figtree"/>
                <a:cs typeface="Figtree"/>
                <a:sym typeface="Figtree"/>
              </a:rPr>
              <a:t> ₹139.40M</a:t>
            </a:r>
            <a:endParaRPr sz="1200">
              <a:solidFill>
                <a:srgbClr val="A4C2F4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A4C2F4"/>
                </a:solidFill>
                <a:latin typeface="Figtree"/>
                <a:ea typeface="Figtree"/>
                <a:cs typeface="Figtree"/>
                <a:sym typeface="Figtree"/>
              </a:rPr>
              <a:t>Transactions:</a:t>
            </a:r>
            <a:r>
              <a:rPr lang="en" sz="1200">
                <a:solidFill>
                  <a:srgbClr val="A4C2F4"/>
                </a:solidFill>
                <a:latin typeface="Figtree"/>
                <a:ea typeface="Figtree"/>
                <a:cs typeface="Figtree"/>
                <a:sym typeface="Figtree"/>
              </a:rPr>
              <a:t> 1,000</a:t>
            </a:r>
            <a:endParaRPr sz="1200">
              <a:solidFill>
                <a:srgbClr val="A4C2F4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A4C2F4"/>
                </a:solidFill>
                <a:latin typeface="Figtree"/>
                <a:ea typeface="Figtree"/>
                <a:cs typeface="Figtree"/>
                <a:sym typeface="Figtree"/>
              </a:rPr>
              <a:t>Average Transaction Value:</a:t>
            </a:r>
            <a:r>
              <a:rPr lang="en" sz="1200">
                <a:solidFill>
                  <a:srgbClr val="A4C2F4"/>
                </a:solidFill>
                <a:latin typeface="Figtree"/>
                <a:ea typeface="Figtree"/>
                <a:cs typeface="Figtree"/>
                <a:sym typeface="Figtree"/>
              </a:rPr>
              <a:t> ₹139,399</a:t>
            </a:r>
            <a:endParaRPr sz="1200">
              <a:solidFill>
                <a:srgbClr val="A4C2F4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A4C2F4"/>
                </a:solidFill>
                <a:latin typeface="Figtree"/>
                <a:ea typeface="Figtree"/>
                <a:cs typeface="Figtree"/>
                <a:sym typeface="Figtree"/>
              </a:rPr>
              <a:t>Median Transaction Value:</a:t>
            </a:r>
            <a:r>
              <a:rPr lang="en" sz="1200">
                <a:solidFill>
                  <a:srgbClr val="A4C2F4"/>
                </a:solidFill>
                <a:latin typeface="Figtree"/>
                <a:ea typeface="Figtree"/>
                <a:cs typeface="Figtree"/>
                <a:sym typeface="Figtree"/>
              </a:rPr>
              <a:t> ₹108,594</a:t>
            </a:r>
            <a:endParaRPr>
              <a:solidFill>
                <a:srgbClr val="A4C2F4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71" name="Google Shape;471;p52"/>
          <p:cNvSpPr txBox="1"/>
          <p:nvPr>
            <p:ph idx="1" type="subTitle"/>
          </p:nvPr>
        </p:nvSpPr>
        <p:spPr>
          <a:xfrm>
            <a:off x="391750" y="3176701"/>
            <a:ext cx="8468400" cy="133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A4C2F4"/>
                </a:solidFill>
                <a:latin typeface="Figtree"/>
                <a:ea typeface="Figtree"/>
                <a:cs typeface="Figtree"/>
                <a:sym typeface="Figtree"/>
              </a:rPr>
              <a:t>Key Observation </a:t>
            </a:r>
            <a:endParaRPr b="1" sz="1400">
              <a:solidFill>
                <a:srgbClr val="A4C2F4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A4C2F4"/>
                </a:solidFill>
                <a:latin typeface="Figtree"/>
                <a:ea typeface="Figtree"/>
                <a:cs typeface="Figtree"/>
                <a:sym typeface="Figtree"/>
              </a:rPr>
              <a:t>The mean transaction value is higher than the median, indicating that relatively high-value transactions increase the overall average. </a:t>
            </a:r>
            <a:endParaRPr>
              <a:solidFill>
                <a:srgbClr val="A4C2F4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472" name="Google Shape;472;p52" title="27a69828-823a-4c1f-886f-29aa26a4a6b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0500" y="768071"/>
            <a:ext cx="5685901" cy="2842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3"/>
          <p:cNvSpPr txBox="1"/>
          <p:nvPr>
            <p:ph idx="4294967295" type="title"/>
          </p:nvPr>
        </p:nvSpPr>
        <p:spPr>
          <a:xfrm>
            <a:off x="424214" y="342133"/>
            <a:ext cx="5849100" cy="4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AD1DC"/>
                </a:solidFill>
              </a:rPr>
              <a:t>Product Sales Performance </a:t>
            </a:r>
            <a:endParaRPr b="1" sz="2000">
              <a:solidFill>
                <a:srgbClr val="EAD1DC"/>
              </a:solidFill>
            </a:endParaRPr>
          </a:p>
        </p:txBody>
      </p:sp>
      <p:pic>
        <p:nvPicPr>
          <p:cNvPr id="478" name="Google Shape;478;p53" title="c1449835-8880-44c2-a452-3a4f4cc5e3f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92" y="1109742"/>
            <a:ext cx="5754049" cy="28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53"/>
          <p:cNvSpPr txBox="1"/>
          <p:nvPr/>
        </p:nvSpPr>
        <p:spPr>
          <a:xfrm>
            <a:off x="147315" y="934950"/>
            <a:ext cx="3028500" cy="28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AD1DC"/>
                </a:solidFill>
                <a:latin typeface="Figtree"/>
                <a:ea typeface="Figtree"/>
                <a:cs typeface="Figtree"/>
                <a:sym typeface="Figtree"/>
              </a:rPr>
              <a:t>Key Insights</a:t>
            </a:r>
            <a:endParaRPr b="1">
              <a:solidFill>
                <a:srgbClr val="EAD1DC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AD1DC"/>
              </a:buClr>
              <a:buSzPts val="1200"/>
              <a:buFont typeface="Figtree"/>
              <a:buChar char="●"/>
            </a:pPr>
            <a:r>
              <a:rPr lang="en" sz="1200">
                <a:solidFill>
                  <a:srgbClr val="EAD1DC"/>
                </a:solidFill>
                <a:latin typeface="Figtree"/>
                <a:ea typeface="Figtree"/>
                <a:cs typeface="Figtree"/>
                <a:sym typeface="Figtree"/>
              </a:rPr>
              <a:t>Laptop recorded the highest total sales.</a:t>
            </a:r>
            <a:endParaRPr sz="1200">
              <a:solidFill>
                <a:srgbClr val="EAD1DC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D1DC"/>
              </a:buClr>
              <a:buSzPts val="1200"/>
              <a:buFont typeface="Figtree"/>
              <a:buChar char="●"/>
            </a:pPr>
            <a:r>
              <a:rPr lang="en" sz="1200">
                <a:solidFill>
                  <a:srgbClr val="EAD1DC"/>
                </a:solidFill>
                <a:latin typeface="Figtree"/>
                <a:ea typeface="Figtree"/>
                <a:cs typeface="Figtree"/>
                <a:sym typeface="Figtree"/>
              </a:rPr>
              <a:t>Mobile was very close to Laptop in total sales.</a:t>
            </a:r>
            <a:endParaRPr sz="1200">
              <a:solidFill>
                <a:srgbClr val="EAD1DC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D1DC"/>
              </a:buClr>
              <a:buSzPts val="1200"/>
              <a:buFont typeface="Figtree"/>
              <a:buChar char="●"/>
            </a:pPr>
            <a:r>
              <a:rPr lang="en" sz="1200">
                <a:solidFill>
                  <a:srgbClr val="EAD1DC"/>
                </a:solidFill>
                <a:latin typeface="Figtree"/>
                <a:ea typeface="Figtree"/>
                <a:cs typeface="Figtree"/>
                <a:sym typeface="Figtree"/>
              </a:rPr>
              <a:t>Book was the third-highest product by total sales.</a:t>
            </a:r>
            <a:endParaRPr sz="1200">
              <a:solidFill>
                <a:srgbClr val="EAD1DC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D1DC"/>
              </a:buClr>
              <a:buSzPts val="1200"/>
              <a:buFont typeface="Figtree"/>
              <a:buChar char="●"/>
            </a:pPr>
            <a:r>
              <a:rPr lang="en" sz="1200">
                <a:solidFill>
                  <a:srgbClr val="EAD1DC"/>
                </a:solidFill>
                <a:latin typeface="Figtree"/>
                <a:ea typeface="Figtree"/>
                <a:cs typeface="Figtree"/>
                <a:sym typeface="Figtree"/>
              </a:rPr>
              <a:t>Shoes recorded the lowest total sales among the six products.</a:t>
            </a:r>
            <a:endParaRPr sz="1200">
              <a:solidFill>
                <a:srgbClr val="EAD1DC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D1DC"/>
              </a:buClr>
              <a:buSzPts val="1200"/>
              <a:buChar char="●"/>
            </a:pPr>
            <a:r>
              <a:rPr lang="en" sz="1200">
                <a:solidFill>
                  <a:srgbClr val="EAD1DC"/>
                </a:solidFill>
                <a:latin typeface="Figtree"/>
                <a:ea typeface="Figtree"/>
                <a:cs typeface="Figtree"/>
                <a:sym typeface="Figtree"/>
              </a:rPr>
              <a:t>Laptop, Mobile, and Book together contributed approximately </a:t>
            </a:r>
            <a:r>
              <a:rPr b="1" lang="en" sz="1200">
                <a:solidFill>
                  <a:srgbClr val="EAD1DC"/>
                </a:solidFill>
                <a:latin typeface="Figtree"/>
                <a:ea typeface="Figtree"/>
                <a:cs typeface="Figtree"/>
                <a:sym typeface="Figtree"/>
              </a:rPr>
              <a:t>54.4%</a:t>
            </a:r>
            <a:r>
              <a:rPr lang="en" sz="1200">
                <a:solidFill>
                  <a:srgbClr val="EAD1DC"/>
                </a:solidFill>
                <a:latin typeface="Figtree"/>
                <a:ea typeface="Figtree"/>
                <a:cs typeface="Figtree"/>
                <a:sym typeface="Figtree"/>
              </a:rPr>
              <a:t> of overall sales.</a:t>
            </a:r>
            <a:endParaRPr sz="1200">
              <a:solidFill>
                <a:srgbClr val="EAD1DC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4"/>
          <p:cNvSpPr txBox="1"/>
          <p:nvPr>
            <p:ph idx="4294967295" type="title"/>
          </p:nvPr>
        </p:nvSpPr>
        <p:spPr>
          <a:xfrm>
            <a:off x="371393" y="261576"/>
            <a:ext cx="5191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Sales Drivers: Volume vs Transaction Value </a:t>
            </a:r>
            <a:endParaRPr b="1" sz="2000"/>
          </a:p>
        </p:txBody>
      </p:sp>
      <p:sp>
        <p:nvSpPr>
          <p:cNvPr id="485" name="Google Shape;485;p54"/>
          <p:cNvSpPr txBox="1"/>
          <p:nvPr>
            <p:ph idx="1" type="subTitle"/>
          </p:nvPr>
        </p:nvSpPr>
        <p:spPr>
          <a:xfrm>
            <a:off x="278776" y="2334487"/>
            <a:ext cx="3828300" cy="2285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400"/>
              <a:t>Key Findings</a:t>
            </a:r>
            <a:endParaRPr b="1" sz="14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Mobile recorded the highest transaction count: </a:t>
            </a:r>
            <a:r>
              <a:rPr b="1" lang="en" sz="1200"/>
              <a:t>184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Rice recorded the lowest transaction count: </a:t>
            </a:r>
            <a:r>
              <a:rPr b="1" lang="en" sz="1200"/>
              <a:t>153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Mobile sold the highest number of units: </a:t>
            </a:r>
            <a:r>
              <a:rPr b="1" lang="en" sz="1200"/>
              <a:t>1,008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Shoes sold the lowest number of units: </a:t>
            </a:r>
            <a:r>
              <a:rPr b="1" lang="en" sz="1200"/>
              <a:t>799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Laptop had the highest average transaction value: approximately </a:t>
            </a:r>
            <a:r>
              <a:rPr b="1" lang="en" sz="1200"/>
              <a:t>₹149,665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Shoes had the lowest average transaction value: approximately </a:t>
            </a:r>
            <a:r>
              <a:rPr b="1" lang="en" sz="1200"/>
              <a:t>₹127,153</a:t>
            </a:r>
            <a:endParaRPr sz="1200"/>
          </a:p>
        </p:txBody>
      </p:sp>
      <p:sp>
        <p:nvSpPr>
          <p:cNvPr id="486" name="Google Shape;486;p54"/>
          <p:cNvSpPr txBox="1"/>
          <p:nvPr>
            <p:ph idx="4294967295" type="title"/>
          </p:nvPr>
        </p:nvSpPr>
        <p:spPr>
          <a:xfrm>
            <a:off x="334822" y="791686"/>
            <a:ext cx="3325500" cy="17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/>
              <a:t>Product sales are influenced by both: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400"/>
              <a:t>Transaction Volume</a:t>
            </a:r>
            <a:endParaRPr b="1" sz="14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</a:pPr>
            <a:r>
              <a:rPr lang="en" sz="1200"/>
              <a:t>Number of transactions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</a:pPr>
            <a:r>
              <a:rPr lang="en" sz="1200"/>
              <a:t>Units sold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400"/>
              <a:t>Transaction Value</a:t>
            </a:r>
            <a:endParaRPr b="1" sz="14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</a:pPr>
            <a:r>
              <a:rPr lang="en" sz="1200"/>
              <a:t>Average transaction value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</a:pPr>
            <a:r>
              <a:rPr lang="en" sz="1200"/>
              <a:t>Unit pric</a:t>
            </a:r>
            <a:r>
              <a:rPr lang="en" sz="1200"/>
              <a:t>e</a:t>
            </a:r>
            <a:endParaRPr/>
          </a:p>
        </p:txBody>
      </p:sp>
      <p:pic>
        <p:nvPicPr>
          <p:cNvPr id="487" name="Google Shape;487;p54" title="7617006f-96aa-4c57-9a5d-4032639767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4134" y="854876"/>
            <a:ext cx="4853198" cy="2426599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54"/>
          <p:cNvSpPr txBox="1"/>
          <p:nvPr/>
        </p:nvSpPr>
        <p:spPr>
          <a:xfrm>
            <a:off x="4157789" y="3408189"/>
            <a:ext cx="4983900" cy="11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Business Insight</a:t>
            </a:r>
            <a:endParaRPr b="1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Higher transaction volume does not always result in the highest total sales. Product sales reflect a combination of transaction frequency, quantity, and transaction value.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5"/>
          <p:cNvSpPr txBox="1"/>
          <p:nvPr>
            <p:ph idx="4" type="title"/>
          </p:nvPr>
        </p:nvSpPr>
        <p:spPr>
          <a:xfrm>
            <a:off x="228582" y="228600"/>
            <a:ext cx="3131400" cy="73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9D2E9"/>
                </a:solidFill>
              </a:rPr>
              <a:t>Product Performance Across Cities</a:t>
            </a:r>
            <a:endParaRPr b="1">
              <a:solidFill>
                <a:srgbClr val="D9D2E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55"/>
          <p:cNvSpPr txBox="1"/>
          <p:nvPr/>
        </p:nvSpPr>
        <p:spPr>
          <a:xfrm>
            <a:off x="113532" y="1005271"/>
            <a:ext cx="2975400" cy="3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The analysis shows that product performance varies across locations.</a:t>
            </a:r>
            <a:endParaRPr sz="12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Key Findings</a:t>
            </a:r>
            <a:endParaRPr b="1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D9D2E9"/>
              </a:buClr>
              <a:buSzPts val="1200"/>
              <a:buChar char="●"/>
            </a:pPr>
            <a:r>
              <a:rPr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Mobile recorded its highest city-level sales in </a:t>
            </a:r>
            <a:r>
              <a:rPr b="1"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Kolkata</a:t>
            </a:r>
            <a:r>
              <a:rPr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, at approximately </a:t>
            </a:r>
            <a:r>
              <a:rPr b="1"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₹4.92M</a:t>
            </a:r>
            <a:r>
              <a:rPr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.</a:t>
            </a:r>
            <a:endParaRPr sz="12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200"/>
              <a:buChar char="●"/>
            </a:pPr>
            <a:r>
              <a:rPr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Laptop showed strong sales in </a:t>
            </a:r>
            <a:r>
              <a:rPr b="1"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Mumbai</a:t>
            </a:r>
            <a:r>
              <a:rPr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, at approximately </a:t>
            </a:r>
            <a:r>
              <a:rPr b="1"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₹4.35M</a:t>
            </a:r>
            <a:r>
              <a:rPr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.</a:t>
            </a:r>
            <a:endParaRPr sz="12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200"/>
              <a:buChar char="●"/>
            </a:pPr>
            <a:r>
              <a:rPr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Laptop also showed strong performance in </a:t>
            </a:r>
            <a:r>
              <a:rPr b="1"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Bengaluru</a:t>
            </a:r>
            <a:r>
              <a:rPr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, at approximately </a:t>
            </a:r>
            <a:r>
              <a:rPr b="1"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₹3.21M</a:t>
            </a:r>
            <a:r>
              <a:rPr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.</a:t>
            </a:r>
            <a:endParaRPr sz="12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200"/>
              <a:buChar char="●"/>
            </a:pPr>
            <a:r>
              <a:rPr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Book recorded strong sales in </a:t>
            </a:r>
            <a:r>
              <a:rPr b="1"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Patna</a:t>
            </a:r>
            <a:r>
              <a:rPr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, at approximately </a:t>
            </a:r>
            <a:r>
              <a:rPr b="1"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₹4.57M</a:t>
            </a:r>
            <a:r>
              <a:rPr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.</a:t>
            </a:r>
            <a:endParaRPr sz="12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95" name="Google Shape;495;p55"/>
          <p:cNvSpPr txBox="1"/>
          <p:nvPr/>
        </p:nvSpPr>
        <p:spPr>
          <a:xfrm>
            <a:off x="3155650" y="3590225"/>
            <a:ext cx="5865600" cy="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Business Insight</a:t>
            </a:r>
            <a:endParaRPr b="1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Product performance is not uniform across cities. Location-level differences can help identify markets where individual products perform particularly well.</a:t>
            </a:r>
            <a:endParaRPr sz="1500"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496" name="Google Shape;496;p55" title="837a3ab2-a1c9-44c3-89a3-1796e30ba4a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7550" y="434972"/>
            <a:ext cx="5773700" cy="288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6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0E0E3"/>
                </a:solidFill>
              </a:rPr>
              <a:t>Monthly &amp; Quarterly Sales Trends </a:t>
            </a:r>
            <a:endParaRPr b="1">
              <a:solidFill>
                <a:srgbClr val="D0E0E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56"/>
          <p:cNvSpPr txBox="1"/>
          <p:nvPr/>
        </p:nvSpPr>
        <p:spPr>
          <a:xfrm>
            <a:off x="301975" y="3797335"/>
            <a:ext cx="8558100" cy="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0E0E3"/>
                </a:solidFill>
                <a:latin typeface="Figtree"/>
                <a:ea typeface="Figtree"/>
                <a:cs typeface="Figtree"/>
                <a:sym typeface="Figtree"/>
              </a:rPr>
              <a:t>Business Insight</a:t>
            </a:r>
            <a:endParaRPr b="1">
              <a:solidFill>
                <a:srgbClr val="D0E0E3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D0E0E3"/>
                </a:solidFill>
                <a:latin typeface="Figtree"/>
                <a:ea typeface="Figtree"/>
                <a:cs typeface="Figtree"/>
                <a:sym typeface="Figtree"/>
              </a:rPr>
              <a:t>Sales performance varies considerably across months and quarters, indicating the importance of monitoring seasonal and time-based patterns. </a:t>
            </a:r>
            <a:endParaRPr sz="1500">
              <a:solidFill>
                <a:srgbClr val="D0E0E3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03" name="Google Shape;503;p56"/>
          <p:cNvSpPr txBox="1"/>
          <p:nvPr/>
        </p:nvSpPr>
        <p:spPr>
          <a:xfrm>
            <a:off x="182572" y="775137"/>
            <a:ext cx="2975400" cy="29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0E0E3"/>
                </a:solidFill>
                <a:latin typeface="Figtree"/>
                <a:ea typeface="Figtree"/>
                <a:cs typeface="Figtree"/>
                <a:sym typeface="Figtree"/>
              </a:rPr>
              <a:t>Key Findings</a:t>
            </a:r>
            <a:endParaRPr b="1">
              <a:solidFill>
                <a:srgbClr val="D0E0E3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D0E0E3"/>
              </a:buClr>
              <a:buSzPts val="1200"/>
              <a:buChar char="●"/>
            </a:pPr>
            <a:r>
              <a:rPr b="1" lang="en" sz="1100">
                <a:solidFill>
                  <a:srgbClr val="D0E0E3"/>
                </a:solidFill>
              </a:rPr>
              <a:t>March 2025</a:t>
            </a:r>
            <a:r>
              <a:rPr lang="en" sz="1100">
                <a:solidFill>
                  <a:srgbClr val="D0E0E3"/>
                </a:solidFill>
              </a:rPr>
              <a:t> recorded the highest monthly sales at approximately </a:t>
            </a:r>
            <a:r>
              <a:rPr b="1" lang="en" sz="1100">
                <a:solidFill>
                  <a:srgbClr val="D0E0E3"/>
                </a:solidFill>
              </a:rPr>
              <a:t>₹13.06M</a:t>
            </a:r>
            <a:r>
              <a:rPr lang="en" sz="1100">
                <a:solidFill>
                  <a:srgbClr val="D0E0E3"/>
                </a:solidFill>
              </a:rPr>
              <a:t>.</a:t>
            </a:r>
            <a:endParaRPr sz="1100">
              <a:solidFill>
                <a:srgbClr val="D0E0E3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0E0E3"/>
              </a:buClr>
              <a:buSzPts val="1200"/>
              <a:buChar char="●"/>
            </a:pPr>
            <a:r>
              <a:rPr b="1" lang="en" sz="1100">
                <a:solidFill>
                  <a:srgbClr val="D0E0E3"/>
                </a:solidFill>
              </a:rPr>
              <a:t>September 2025</a:t>
            </a:r>
            <a:r>
              <a:rPr lang="en" sz="1100">
                <a:solidFill>
                  <a:srgbClr val="D0E0E3"/>
                </a:solidFill>
              </a:rPr>
              <a:t> recorded the lowest monthly sales at approximately </a:t>
            </a:r>
            <a:r>
              <a:rPr b="1" lang="en" sz="1100">
                <a:solidFill>
                  <a:srgbClr val="D0E0E3"/>
                </a:solidFill>
              </a:rPr>
              <a:t>₹9.18M</a:t>
            </a:r>
            <a:r>
              <a:rPr lang="en" sz="1100">
                <a:solidFill>
                  <a:srgbClr val="D0E0E3"/>
                </a:solidFill>
              </a:rPr>
              <a:t>.</a:t>
            </a:r>
            <a:endParaRPr sz="1100">
              <a:solidFill>
                <a:srgbClr val="D0E0E3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0E0E3"/>
              </a:buClr>
              <a:buSzPts val="1200"/>
              <a:buChar char="●"/>
            </a:pPr>
            <a:r>
              <a:rPr b="1" lang="en" sz="1100">
                <a:solidFill>
                  <a:srgbClr val="D0E0E3"/>
                </a:solidFill>
              </a:rPr>
              <a:t>Q4 2025</a:t>
            </a:r>
            <a:r>
              <a:rPr lang="en" sz="1100">
                <a:solidFill>
                  <a:srgbClr val="D0E0E3"/>
                </a:solidFill>
              </a:rPr>
              <a:t> recorded the highest quarterly sales at approximately </a:t>
            </a:r>
            <a:r>
              <a:rPr b="1" lang="en" sz="1100">
                <a:solidFill>
                  <a:srgbClr val="D0E0E3"/>
                </a:solidFill>
              </a:rPr>
              <a:t>₹37.43M</a:t>
            </a:r>
            <a:r>
              <a:rPr lang="en" sz="1100">
                <a:solidFill>
                  <a:srgbClr val="D0E0E3"/>
                </a:solidFill>
              </a:rPr>
              <a:t>.</a:t>
            </a:r>
            <a:endParaRPr sz="1100">
              <a:solidFill>
                <a:srgbClr val="D0E0E3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0E0E3"/>
              </a:buClr>
              <a:buSzPts val="1200"/>
              <a:buChar char="●"/>
            </a:pPr>
            <a:r>
              <a:rPr b="1" lang="en" sz="1100">
                <a:solidFill>
                  <a:srgbClr val="D0E0E3"/>
                </a:solidFill>
              </a:rPr>
              <a:t>Q3 2025</a:t>
            </a:r>
            <a:r>
              <a:rPr lang="en" sz="1100">
                <a:solidFill>
                  <a:srgbClr val="D0E0E3"/>
                </a:solidFill>
              </a:rPr>
              <a:t> recorded the lowest quarterly sales at approximately </a:t>
            </a:r>
            <a:r>
              <a:rPr b="1" lang="en" sz="1100">
                <a:solidFill>
                  <a:srgbClr val="D0E0E3"/>
                </a:solidFill>
              </a:rPr>
              <a:t>₹30.37M</a:t>
            </a:r>
            <a:r>
              <a:rPr lang="en" sz="1100">
                <a:solidFill>
                  <a:srgbClr val="D0E0E3"/>
                </a:solidFill>
              </a:rPr>
              <a:t>.</a:t>
            </a:r>
            <a:endParaRPr sz="1200">
              <a:solidFill>
                <a:srgbClr val="D0E0E3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504" name="Google Shape;504;p56" title="5aa64245-3ec2-418c-8b0a-c4612029fd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5951" y="1085629"/>
            <a:ext cx="5702102" cy="2851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7"/>
          <p:cNvSpPr txBox="1"/>
          <p:nvPr>
            <p:ph idx="3" type="title"/>
          </p:nvPr>
        </p:nvSpPr>
        <p:spPr>
          <a:xfrm>
            <a:off x="309147" y="273093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FEFEF"/>
                </a:solidFill>
              </a:rPr>
              <a:t>Business Hypothesis </a:t>
            </a:r>
            <a:endParaRPr b="1">
              <a:solidFill>
                <a:srgbClr val="EFEFEF"/>
              </a:solidFill>
            </a:endParaRPr>
          </a:p>
        </p:txBody>
      </p:sp>
      <p:sp>
        <p:nvSpPr>
          <p:cNvPr id="510" name="Google Shape;510;p57"/>
          <p:cNvSpPr txBox="1"/>
          <p:nvPr>
            <p:ph idx="4" type="subTitle"/>
          </p:nvPr>
        </p:nvSpPr>
        <p:spPr>
          <a:xfrm>
            <a:off x="394834" y="806791"/>
            <a:ext cx="8499900" cy="42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1400">
                <a:solidFill>
                  <a:srgbClr val="EFEFEF"/>
                </a:solidFill>
              </a:rPr>
              <a:t>Research Question</a:t>
            </a:r>
            <a:endParaRPr b="1" sz="1400">
              <a:solidFill>
                <a:srgbClr val="EFEFE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>
                <a:solidFill>
                  <a:srgbClr val="EFEFEF"/>
                </a:solidFill>
              </a:rPr>
              <a:t>Is the average transaction value significantly different between Laptop and Mobile transactions?</a:t>
            </a:r>
            <a:endParaRPr b="1">
              <a:solidFill>
                <a:srgbClr val="EFEFE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1400">
                <a:solidFill>
                  <a:srgbClr val="EFEFEF"/>
                </a:solidFill>
              </a:rPr>
              <a:t>Null Hypothesis (H₀) - </a:t>
            </a:r>
            <a:r>
              <a:rPr lang="en">
                <a:solidFill>
                  <a:srgbClr val="EFEFEF"/>
                </a:solidFill>
              </a:rPr>
              <a:t>There is no statistically significant difference in the average transaction value between Laptop and Mobile transactions.</a:t>
            </a:r>
            <a:endParaRPr>
              <a:solidFill>
                <a:srgbClr val="EFEFE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1400">
                <a:solidFill>
                  <a:srgbClr val="EFEFEF"/>
                </a:solidFill>
              </a:rPr>
              <a:t>Alternative Hypothesis (H₁) - </a:t>
            </a:r>
            <a:r>
              <a:rPr lang="en">
                <a:solidFill>
                  <a:srgbClr val="EFEFEF"/>
                </a:solidFill>
              </a:rPr>
              <a:t>There is a statistically significant difference in the average transaction value between Laptop and Mobile transactions. </a:t>
            </a:r>
            <a:endParaRPr>
              <a:solidFill>
                <a:srgbClr val="EFEFE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1400">
                <a:solidFill>
                  <a:srgbClr val="EFEFEF"/>
                </a:solidFill>
              </a:rPr>
              <a:t>Significance Level:  </a:t>
            </a:r>
            <a:r>
              <a:rPr b="1" lang="en">
                <a:solidFill>
                  <a:srgbClr val="EFEFEF"/>
                </a:solidFill>
              </a:rPr>
              <a:t>α = 0.05</a:t>
            </a:r>
            <a:endParaRPr b="1">
              <a:solidFill>
                <a:srgbClr val="EFEFE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1400">
                <a:solidFill>
                  <a:srgbClr val="EFEFEF"/>
                </a:solidFill>
              </a:rPr>
              <a:t>Statistical Test - </a:t>
            </a:r>
            <a:r>
              <a:rPr b="1" lang="en">
                <a:solidFill>
                  <a:srgbClr val="EFEFEF"/>
                </a:solidFill>
              </a:rPr>
              <a:t>Welch's Independent Two-Sample t-test</a:t>
            </a:r>
            <a:endParaRPr b="1">
              <a:solidFill>
                <a:srgbClr val="EFEFE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1400">
                <a:solidFill>
                  <a:srgbClr val="EFEFEF"/>
                </a:solidFill>
              </a:rPr>
              <a:t>Why this test?</a:t>
            </a:r>
            <a:endParaRPr b="1" sz="1400">
              <a:solidFill>
                <a:srgbClr val="EFEFE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>
                <a:solidFill>
                  <a:srgbClr val="EFEFEF"/>
                </a:solidFill>
              </a:rPr>
              <a:t>The test compares the mean transaction values of two independent product groups while not requiring equal population variances.</a:t>
            </a:r>
            <a:endParaRPr>
              <a:solidFill>
                <a:srgbClr val="EFEFEF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>
              <a:solidFill>
                <a:srgbClr val="EFEFE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b="1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>
              <a:solidFill>
                <a:srgbClr val="EFEFE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8"/>
          <p:cNvSpPr txBox="1"/>
          <p:nvPr>
            <p:ph idx="3" type="title"/>
          </p:nvPr>
        </p:nvSpPr>
        <p:spPr>
          <a:xfrm>
            <a:off x="473529" y="468274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CFE2F3"/>
                </a:solidFill>
              </a:rPr>
              <a:t>Hypothesis Testing Results </a:t>
            </a:r>
            <a:endParaRPr b="1">
              <a:solidFill>
                <a:srgbClr val="CFE2F3"/>
              </a:solidFill>
            </a:endParaRPr>
          </a:p>
        </p:txBody>
      </p:sp>
      <p:graphicFrame>
        <p:nvGraphicFramePr>
          <p:cNvPr id="516" name="Google Shape;516;p58"/>
          <p:cNvGraphicFramePr/>
          <p:nvPr/>
        </p:nvGraphicFramePr>
        <p:xfrm>
          <a:off x="3476925" y="877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{BA8CDB50-038A-4F85-A9D4-11366ED895AB}</a:tableStyleId>
              </a:tblPr>
              <a:tblGrid>
                <a:gridCol w="2957075"/>
                <a:gridCol w="2344325"/>
              </a:tblGrid>
              <a:tr h="413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CFE2F3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Metric</a:t>
                      </a:r>
                      <a:endParaRPr b="1" sz="1100">
                        <a:solidFill>
                          <a:srgbClr val="CFE2F3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CFE2F3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Result</a:t>
                      </a:r>
                      <a:endParaRPr b="1" sz="1100">
                        <a:solidFill>
                          <a:srgbClr val="CFE2F3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/>
                </a:tc>
              </a:tr>
              <a:tr h="41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CFE2F3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Laptop Mean Transaction Value</a:t>
                      </a:r>
                      <a:endParaRPr b="1" sz="1100">
                        <a:solidFill>
                          <a:srgbClr val="CFE2F3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CFE2F3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₹149,664.76</a:t>
                      </a:r>
                      <a:endParaRPr b="1" sz="1100">
                        <a:solidFill>
                          <a:srgbClr val="CFE2F3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/>
                </a:tc>
              </a:tr>
              <a:tr h="41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CFE2F3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Mobile Mean Transaction Value</a:t>
                      </a:r>
                      <a:endParaRPr b="1" sz="1100">
                        <a:solidFill>
                          <a:srgbClr val="CFE2F3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CFE2F3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₹137,693.33</a:t>
                      </a:r>
                      <a:endParaRPr b="1" sz="1100">
                        <a:solidFill>
                          <a:srgbClr val="CFE2F3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/>
                </a:tc>
              </a:tr>
              <a:tr h="41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CFE2F3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Difference in Means</a:t>
                      </a:r>
                      <a:endParaRPr b="1" sz="1100">
                        <a:solidFill>
                          <a:srgbClr val="CFE2F3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CFE2F3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₹11,971.42</a:t>
                      </a:r>
                      <a:endParaRPr b="1" sz="1100">
                        <a:solidFill>
                          <a:srgbClr val="CFE2F3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/>
                </a:tc>
              </a:tr>
              <a:tr h="41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CFE2F3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t-statistic</a:t>
                      </a:r>
                      <a:endParaRPr b="1" sz="1100">
                        <a:solidFill>
                          <a:srgbClr val="CFE2F3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CFE2F3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0.954</a:t>
                      </a:r>
                      <a:endParaRPr b="1" sz="1100">
                        <a:solidFill>
                          <a:srgbClr val="CFE2F3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/>
                </a:tc>
              </a:tr>
              <a:tr h="41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CFE2F3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p-value</a:t>
                      </a:r>
                      <a:endParaRPr b="1" sz="1100">
                        <a:solidFill>
                          <a:srgbClr val="CFE2F3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CFE2F3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0.341</a:t>
                      </a:r>
                      <a:endParaRPr b="1" sz="1100">
                        <a:solidFill>
                          <a:srgbClr val="CFE2F3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/>
                </a:tc>
              </a:tr>
              <a:tr h="41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CFE2F3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95% Confidence Interval</a:t>
                      </a:r>
                      <a:endParaRPr b="1" sz="1100">
                        <a:solidFill>
                          <a:srgbClr val="CFE2F3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CFE2F3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₹−12,717.22 to ₹36,660.07</a:t>
                      </a:r>
                      <a:endParaRPr b="1" sz="1100">
                        <a:solidFill>
                          <a:srgbClr val="CFE2F3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17" name="Google Shape;517;p58"/>
          <p:cNvSpPr txBox="1"/>
          <p:nvPr/>
        </p:nvSpPr>
        <p:spPr>
          <a:xfrm>
            <a:off x="396183" y="1251988"/>
            <a:ext cx="3110100" cy="17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CFE2F3"/>
                </a:solidFill>
                <a:latin typeface="Figtree"/>
                <a:ea typeface="Figtree"/>
                <a:cs typeface="Figtree"/>
                <a:sym typeface="Figtree"/>
              </a:rPr>
              <a:t>Decision Rule </a:t>
            </a:r>
            <a:endParaRPr b="1">
              <a:solidFill>
                <a:srgbClr val="CFE2F3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CFE2F3"/>
                </a:solidFill>
                <a:latin typeface="Figtree"/>
                <a:ea typeface="Figtree"/>
                <a:cs typeface="Figtree"/>
                <a:sym typeface="Figtree"/>
              </a:rPr>
              <a:t>If </a:t>
            </a:r>
            <a:r>
              <a:rPr b="1" lang="en" sz="1200">
                <a:solidFill>
                  <a:srgbClr val="CFE2F3"/>
                </a:solidFill>
                <a:latin typeface="Figtree"/>
                <a:ea typeface="Figtree"/>
                <a:cs typeface="Figtree"/>
                <a:sym typeface="Figtree"/>
              </a:rPr>
              <a:t>p-value &lt; 0.05</a:t>
            </a:r>
            <a:r>
              <a:rPr lang="en" sz="1200">
                <a:solidFill>
                  <a:srgbClr val="CFE2F3"/>
                </a:solidFill>
                <a:latin typeface="Figtree"/>
                <a:ea typeface="Figtree"/>
                <a:cs typeface="Figtree"/>
                <a:sym typeface="Figtree"/>
              </a:rPr>
              <a:t>, reject H₀.</a:t>
            </a:r>
            <a:br>
              <a:rPr lang="en" sz="1200">
                <a:solidFill>
                  <a:srgbClr val="CFE2F3"/>
                </a:solidFill>
                <a:latin typeface="Figtree"/>
                <a:ea typeface="Figtree"/>
                <a:cs typeface="Figtree"/>
                <a:sym typeface="Figtree"/>
              </a:rPr>
            </a:br>
            <a:r>
              <a:rPr lang="en" sz="1200">
                <a:solidFill>
                  <a:srgbClr val="CFE2F3"/>
                </a:solidFill>
                <a:latin typeface="Figtree"/>
                <a:ea typeface="Figtree"/>
                <a:cs typeface="Figtree"/>
                <a:sym typeface="Figtree"/>
              </a:rPr>
              <a:t>If </a:t>
            </a:r>
            <a:r>
              <a:rPr b="1" lang="en" sz="1200">
                <a:solidFill>
                  <a:srgbClr val="CFE2F3"/>
                </a:solidFill>
                <a:latin typeface="Figtree"/>
                <a:ea typeface="Figtree"/>
                <a:cs typeface="Figtree"/>
                <a:sym typeface="Figtree"/>
              </a:rPr>
              <a:t>p-value ≥ 0.05</a:t>
            </a:r>
            <a:r>
              <a:rPr lang="en" sz="1200">
                <a:solidFill>
                  <a:srgbClr val="CFE2F3"/>
                </a:solidFill>
                <a:latin typeface="Figtree"/>
                <a:ea typeface="Figtree"/>
                <a:cs typeface="Figtree"/>
                <a:sym typeface="Figtree"/>
              </a:rPr>
              <a:t>, do not reject H₀.</a:t>
            </a:r>
            <a:endParaRPr sz="1200">
              <a:solidFill>
                <a:srgbClr val="CFE2F3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CFE2F3"/>
                </a:solidFill>
                <a:latin typeface="Figtree"/>
                <a:ea typeface="Figtree"/>
                <a:cs typeface="Figtree"/>
                <a:sym typeface="Figtree"/>
              </a:rPr>
              <a:t>Test Result</a:t>
            </a:r>
            <a:endParaRPr b="1" sz="1500">
              <a:solidFill>
                <a:srgbClr val="CFE2F3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CFE2F3"/>
                </a:solidFill>
                <a:latin typeface="Figtree"/>
                <a:ea typeface="Figtree"/>
                <a:cs typeface="Figtree"/>
                <a:sym typeface="Figtree"/>
              </a:rPr>
              <a:t>p-value = 0.341 ≥ 0.05</a:t>
            </a:r>
            <a:endParaRPr sz="1200">
              <a:solidFill>
                <a:srgbClr val="CFE2F3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18" name="Google Shape;518;p58"/>
          <p:cNvSpPr txBox="1"/>
          <p:nvPr/>
        </p:nvSpPr>
        <p:spPr>
          <a:xfrm>
            <a:off x="323250" y="3468287"/>
            <a:ext cx="6733200" cy="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CFE2F3"/>
                </a:solidFill>
                <a:latin typeface="Figtree"/>
                <a:ea typeface="Figtree"/>
                <a:cs typeface="Figtree"/>
                <a:sym typeface="Figtree"/>
              </a:rPr>
              <a:t>Business Interpretation</a:t>
            </a:r>
            <a:endParaRPr b="1">
              <a:solidFill>
                <a:srgbClr val="CFE2F3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CFE2F3"/>
                </a:solidFill>
                <a:latin typeface="Figtree"/>
                <a:ea typeface="Figtree"/>
                <a:cs typeface="Figtree"/>
                <a:sym typeface="Figtree"/>
              </a:rPr>
              <a:t>The test does not provide sufficient statistical evidence that the average transaction value differs significantly between Laptop and Mobile transactions.</a:t>
            </a:r>
            <a:endParaRPr sz="1200">
              <a:solidFill>
                <a:srgbClr val="CFE2F3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9"/>
          <p:cNvSpPr txBox="1"/>
          <p:nvPr>
            <p:ph idx="3" type="title"/>
          </p:nvPr>
        </p:nvSpPr>
        <p:spPr>
          <a:xfrm>
            <a:off x="418164" y="368725"/>
            <a:ext cx="47379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AD1DC"/>
                </a:solidFill>
              </a:rPr>
              <a:t>Statistical Interpretation </a:t>
            </a:r>
            <a:endParaRPr b="1">
              <a:solidFill>
                <a:srgbClr val="EAD1DC"/>
              </a:solidFill>
            </a:endParaRPr>
          </a:p>
        </p:txBody>
      </p:sp>
      <p:sp>
        <p:nvSpPr>
          <p:cNvPr id="524" name="Google Shape;524;p59"/>
          <p:cNvSpPr txBox="1"/>
          <p:nvPr/>
        </p:nvSpPr>
        <p:spPr>
          <a:xfrm>
            <a:off x="5193988" y="771450"/>
            <a:ext cx="3884400" cy="1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AD1DC"/>
                </a:solidFill>
                <a:latin typeface="Figtree"/>
                <a:ea typeface="Figtree"/>
                <a:cs typeface="Figtree"/>
                <a:sym typeface="Figtree"/>
              </a:rPr>
              <a:t>Interpretation of the Statistical Test</a:t>
            </a:r>
            <a:endParaRPr b="1">
              <a:solidFill>
                <a:srgbClr val="EAD1DC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AD1DC"/>
                </a:solidFill>
                <a:latin typeface="Figtree"/>
                <a:ea typeface="Figtree"/>
                <a:cs typeface="Figtree"/>
                <a:sym typeface="Figtree"/>
              </a:rPr>
              <a:t>The p-value is </a:t>
            </a:r>
            <a:r>
              <a:rPr b="1" lang="en" sz="1200">
                <a:solidFill>
                  <a:srgbClr val="EAD1DC"/>
                </a:solidFill>
                <a:latin typeface="Figtree"/>
                <a:ea typeface="Figtree"/>
                <a:cs typeface="Figtree"/>
                <a:sym typeface="Figtree"/>
              </a:rPr>
              <a:t>0.341</a:t>
            </a:r>
            <a:r>
              <a:rPr lang="en" sz="1200">
                <a:solidFill>
                  <a:srgbClr val="EAD1DC"/>
                </a:solidFill>
                <a:latin typeface="Figtree"/>
                <a:ea typeface="Figtree"/>
                <a:cs typeface="Figtree"/>
                <a:sym typeface="Figtree"/>
              </a:rPr>
              <a:t>, which is above the </a:t>
            </a:r>
            <a:r>
              <a:rPr b="1" lang="en" sz="1200">
                <a:solidFill>
                  <a:srgbClr val="EAD1DC"/>
                </a:solidFill>
                <a:latin typeface="Figtree"/>
                <a:ea typeface="Figtree"/>
                <a:cs typeface="Figtree"/>
                <a:sym typeface="Figtree"/>
              </a:rPr>
              <a:t>0.05 significance level</a:t>
            </a:r>
            <a:r>
              <a:rPr lang="en" sz="1200">
                <a:solidFill>
                  <a:srgbClr val="EAD1DC"/>
                </a:solidFill>
                <a:latin typeface="Figtree"/>
                <a:ea typeface="Figtree"/>
                <a:cs typeface="Figtree"/>
                <a:sym typeface="Figtree"/>
              </a:rPr>
              <a:t>. Therefore, the null hypothesis is </a:t>
            </a:r>
            <a:r>
              <a:rPr b="1" lang="en" sz="1200">
                <a:solidFill>
                  <a:srgbClr val="EAD1DC"/>
                </a:solidFill>
                <a:latin typeface="Figtree"/>
                <a:ea typeface="Figtree"/>
                <a:cs typeface="Figtree"/>
                <a:sym typeface="Figtree"/>
              </a:rPr>
              <a:t>not rejected</a:t>
            </a:r>
            <a:r>
              <a:rPr lang="en" sz="1200">
                <a:solidFill>
                  <a:srgbClr val="EAD1DC"/>
                </a:solidFill>
                <a:latin typeface="Figtree"/>
                <a:ea typeface="Figtree"/>
                <a:cs typeface="Figtree"/>
                <a:sym typeface="Figtree"/>
              </a:rPr>
              <a:t>.</a:t>
            </a:r>
            <a:endParaRPr sz="1200">
              <a:solidFill>
                <a:srgbClr val="EAD1DC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EAD1DC"/>
                </a:solidFill>
                <a:latin typeface="Figtree"/>
                <a:ea typeface="Figtree"/>
                <a:cs typeface="Figtree"/>
                <a:sym typeface="Figtree"/>
              </a:rPr>
              <a:t>The analysis does not provide sufficient statistical evidence of a difference in average transaction value between </a:t>
            </a:r>
            <a:r>
              <a:rPr b="1" lang="en" sz="1200">
                <a:solidFill>
                  <a:srgbClr val="EAD1DC"/>
                </a:solidFill>
                <a:latin typeface="Figtree"/>
                <a:ea typeface="Figtree"/>
                <a:cs typeface="Figtree"/>
                <a:sym typeface="Figtree"/>
              </a:rPr>
              <a:t>Laptop and Mobile transactions</a:t>
            </a:r>
            <a:r>
              <a:rPr lang="en" sz="1200">
                <a:solidFill>
                  <a:srgbClr val="EAD1DC"/>
                </a:solidFill>
                <a:latin typeface="Figtree"/>
                <a:ea typeface="Figtree"/>
                <a:cs typeface="Figtree"/>
                <a:sym typeface="Figtree"/>
              </a:rPr>
              <a:t>.</a:t>
            </a:r>
            <a:endParaRPr sz="1200">
              <a:solidFill>
                <a:srgbClr val="EAD1DC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25" name="Google Shape;525;p59"/>
          <p:cNvSpPr txBox="1"/>
          <p:nvPr/>
        </p:nvSpPr>
        <p:spPr>
          <a:xfrm>
            <a:off x="5217442" y="2757744"/>
            <a:ext cx="3884400" cy="25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>
                <a:solidFill>
                  <a:srgbClr val="EAD1DC"/>
                </a:solidFill>
                <a:latin typeface="Figtree"/>
                <a:ea typeface="Figtree"/>
                <a:cs typeface="Figtree"/>
                <a:sym typeface="Figtree"/>
              </a:rPr>
              <a:t>Confidence Interval</a:t>
            </a:r>
            <a:endParaRPr b="1">
              <a:solidFill>
                <a:srgbClr val="EAD1DC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EAD1DC"/>
                </a:solidFill>
                <a:latin typeface="Figtree"/>
                <a:ea typeface="Figtree"/>
                <a:cs typeface="Figtree"/>
                <a:sym typeface="Figtree"/>
              </a:rPr>
              <a:t>The </a:t>
            </a:r>
            <a:r>
              <a:rPr b="1" lang="en" sz="1200">
                <a:solidFill>
                  <a:srgbClr val="EAD1DC"/>
                </a:solidFill>
                <a:latin typeface="Figtree"/>
                <a:ea typeface="Figtree"/>
                <a:cs typeface="Figtree"/>
                <a:sym typeface="Figtree"/>
              </a:rPr>
              <a:t>95% confidence interval</a:t>
            </a:r>
            <a:r>
              <a:rPr lang="en" sz="1200">
                <a:solidFill>
                  <a:srgbClr val="EAD1DC"/>
                </a:solidFill>
                <a:latin typeface="Figtree"/>
                <a:ea typeface="Figtree"/>
                <a:cs typeface="Figtree"/>
                <a:sym typeface="Figtree"/>
              </a:rPr>
              <a:t> for the difference in average transaction value is:</a:t>
            </a:r>
            <a:endParaRPr sz="1200">
              <a:solidFill>
                <a:srgbClr val="EAD1DC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EAD1DC"/>
                </a:solidFill>
                <a:latin typeface="Figtree"/>
                <a:ea typeface="Figtree"/>
                <a:cs typeface="Figtree"/>
                <a:sym typeface="Figtree"/>
              </a:rPr>
              <a:t>₹−12,717.22 to ₹36,660.07</a:t>
            </a:r>
            <a:endParaRPr b="1" sz="1200">
              <a:solidFill>
                <a:srgbClr val="EAD1DC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EAD1DC"/>
                </a:solidFill>
                <a:latin typeface="Figtree"/>
                <a:ea typeface="Figtree"/>
                <a:cs typeface="Figtree"/>
                <a:sym typeface="Figtree"/>
              </a:rPr>
              <a:t>The confidence interval provides the estimated range for the difference in average transaction values between the two product groups.</a:t>
            </a:r>
            <a:endParaRPr sz="1200">
              <a:solidFill>
                <a:srgbClr val="EAD1DC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rgbClr val="EAD1DC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26" name="Google Shape;526;p59"/>
          <p:cNvSpPr txBox="1"/>
          <p:nvPr/>
        </p:nvSpPr>
        <p:spPr>
          <a:xfrm>
            <a:off x="215825" y="3413537"/>
            <a:ext cx="48141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AD1DC"/>
                </a:solidFill>
                <a:latin typeface="Figtree"/>
                <a:ea typeface="Figtree"/>
                <a:cs typeface="Figtree"/>
                <a:sym typeface="Figtree"/>
              </a:rPr>
              <a:t>Business Interpretation</a:t>
            </a:r>
            <a:endParaRPr b="1">
              <a:solidFill>
                <a:srgbClr val="EAD1DC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EAD1DC"/>
                </a:solidFill>
                <a:latin typeface="Figtree"/>
                <a:ea typeface="Figtree"/>
                <a:cs typeface="Figtree"/>
                <a:sym typeface="Figtree"/>
              </a:rPr>
              <a:t>Although Laptop transactions have a higher observed average transaction value than Mobile transactions, the statistical test does not provide sufficient evidence that this difference is statistically significant.</a:t>
            </a:r>
            <a:endParaRPr sz="1200">
              <a:solidFill>
                <a:srgbClr val="EAD1DC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527" name="Google Shape;527;p59" title="a19d6499-231f-49ab-9226-d62a362508d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592" y="877679"/>
            <a:ext cx="4942901" cy="24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0"/>
          <p:cNvSpPr txBox="1"/>
          <p:nvPr>
            <p:ph idx="1" type="body"/>
          </p:nvPr>
        </p:nvSpPr>
        <p:spPr>
          <a:xfrm>
            <a:off x="769634" y="1368738"/>
            <a:ext cx="35190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Laptop generated the highest total sales</a:t>
            </a:r>
            <a:r>
              <a:rPr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, while Mobile generated the highest transaction volume and units sold. </a:t>
            </a:r>
            <a:endParaRPr sz="12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33" name="Google Shape;533;p60"/>
          <p:cNvSpPr txBox="1"/>
          <p:nvPr>
            <p:ph idx="3" type="body"/>
          </p:nvPr>
        </p:nvSpPr>
        <p:spPr>
          <a:xfrm>
            <a:off x="5132172" y="1304650"/>
            <a:ext cx="3679500" cy="9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Transaction volume </a:t>
            </a:r>
            <a:r>
              <a:rPr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alone does not fully describe product sales performance; transaction value also contributes to differences in total sales. </a:t>
            </a:r>
            <a:endParaRPr sz="12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34" name="Google Shape;534;p60"/>
          <p:cNvSpPr txBox="1"/>
          <p:nvPr>
            <p:ph idx="5" type="body"/>
          </p:nvPr>
        </p:nvSpPr>
        <p:spPr>
          <a:xfrm>
            <a:off x="5395843" y="3251325"/>
            <a:ext cx="3195900" cy="84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Sales vary across time</a:t>
            </a:r>
            <a:r>
              <a:rPr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, with March recording the highest monthly sales and Q4 recording the highest quarterly sales. </a:t>
            </a:r>
            <a:endParaRPr sz="12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35" name="Google Shape;535;p60"/>
          <p:cNvSpPr txBox="1"/>
          <p:nvPr>
            <p:ph idx="4" type="body"/>
          </p:nvPr>
        </p:nvSpPr>
        <p:spPr>
          <a:xfrm>
            <a:off x="761174" y="3317449"/>
            <a:ext cx="3368700" cy="84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Product performance varies across cities</a:t>
            </a:r>
            <a:r>
              <a:rPr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, with different products showing stronger sales in different locations.</a:t>
            </a:r>
            <a:endParaRPr sz="12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36" name="Google Shape;536;p60"/>
          <p:cNvSpPr txBox="1"/>
          <p:nvPr>
            <p:ph idx="14" type="title"/>
          </p:nvPr>
        </p:nvSpPr>
        <p:spPr>
          <a:xfrm>
            <a:off x="582453" y="419287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>
                <a:solidFill>
                  <a:srgbClr val="D9D2E9"/>
                </a:solidFill>
              </a:rPr>
              <a:t>Key Business Insights</a:t>
            </a:r>
            <a:endParaRPr>
              <a:solidFill>
                <a:srgbClr val="D9D2E9"/>
              </a:solidFill>
            </a:endParaRPr>
          </a:p>
        </p:txBody>
      </p:sp>
      <p:sp>
        <p:nvSpPr>
          <p:cNvPr id="537" name="Google Shape;537;p60"/>
          <p:cNvSpPr txBox="1"/>
          <p:nvPr/>
        </p:nvSpPr>
        <p:spPr>
          <a:xfrm>
            <a:off x="2583075" y="2170464"/>
            <a:ext cx="37839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Statistical testing adds rigor to descriptive findings</a:t>
            </a:r>
            <a:r>
              <a:rPr lang="en" sz="1200">
                <a:solidFill>
                  <a:srgbClr val="D9D2E9"/>
                </a:solidFill>
                <a:latin typeface="Figtree"/>
                <a:ea typeface="Figtree"/>
                <a:cs typeface="Figtree"/>
                <a:sym typeface="Figtree"/>
              </a:rPr>
              <a:t> by determining whether an observed difference between product groups is statistically supported.</a:t>
            </a:r>
            <a:endParaRPr b="1" sz="1200">
              <a:solidFill>
                <a:srgbClr val="D9D2E9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1"/>
          <p:cNvSpPr/>
          <p:nvPr/>
        </p:nvSpPr>
        <p:spPr>
          <a:xfrm>
            <a:off x="3362502" y="1337714"/>
            <a:ext cx="2622900" cy="951000"/>
          </a:xfrm>
          <a:prstGeom prst="roundRect">
            <a:avLst>
              <a:gd fmla="val 5265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543" name="Google Shape;543;p61"/>
          <p:cNvSpPr/>
          <p:nvPr/>
        </p:nvSpPr>
        <p:spPr>
          <a:xfrm>
            <a:off x="373145" y="1305938"/>
            <a:ext cx="2622900" cy="951000"/>
          </a:xfrm>
          <a:prstGeom prst="roundRect">
            <a:avLst>
              <a:gd fmla="val 5265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544" name="Google Shape;544;p61"/>
          <p:cNvSpPr txBox="1"/>
          <p:nvPr>
            <p:ph idx="3" type="title"/>
          </p:nvPr>
        </p:nvSpPr>
        <p:spPr>
          <a:xfrm>
            <a:off x="466515" y="400554"/>
            <a:ext cx="44106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>
                <a:solidFill>
                  <a:srgbClr val="FCE5CD"/>
                </a:solidFill>
              </a:rPr>
              <a:t>Business Action Points </a:t>
            </a:r>
            <a:endParaRPr>
              <a:solidFill>
                <a:srgbClr val="FCE5CD"/>
              </a:solidFill>
            </a:endParaRPr>
          </a:p>
        </p:txBody>
      </p:sp>
      <p:sp>
        <p:nvSpPr>
          <p:cNvPr id="545" name="Google Shape;545;p61"/>
          <p:cNvSpPr txBox="1"/>
          <p:nvPr>
            <p:ph idx="1" type="subTitle"/>
          </p:nvPr>
        </p:nvSpPr>
        <p:spPr>
          <a:xfrm>
            <a:off x="477844" y="793000"/>
            <a:ext cx="3601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CE5CD"/>
                </a:solidFill>
                <a:latin typeface="Figtree"/>
                <a:ea typeface="Figtree"/>
                <a:cs typeface="Figtree"/>
                <a:sym typeface="Figtree"/>
              </a:rPr>
              <a:t>Based on the analysis, businesses can: </a:t>
            </a:r>
            <a:endParaRPr>
              <a:solidFill>
                <a:srgbClr val="FCE5CD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46" name="Google Shape;546;p61"/>
          <p:cNvSpPr txBox="1"/>
          <p:nvPr>
            <p:ph idx="15" type="subTitle"/>
          </p:nvPr>
        </p:nvSpPr>
        <p:spPr>
          <a:xfrm>
            <a:off x="520433" y="1370812"/>
            <a:ext cx="2484900" cy="72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CE5CD"/>
                </a:solidFill>
                <a:latin typeface="Figtree"/>
                <a:ea typeface="Figtree"/>
                <a:cs typeface="Figtree"/>
                <a:sym typeface="Figtree"/>
              </a:rPr>
              <a:t>Monitor both </a:t>
            </a:r>
            <a:r>
              <a:rPr b="1" lang="en">
                <a:solidFill>
                  <a:srgbClr val="FCE5CD"/>
                </a:solidFill>
                <a:latin typeface="Figtree"/>
                <a:ea typeface="Figtree"/>
                <a:cs typeface="Figtree"/>
                <a:sym typeface="Figtree"/>
              </a:rPr>
              <a:t>transaction volume and transaction value</a:t>
            </a:r>
            <a:r>
              <a:rPr lang="en">
                <a:solidFill>
                  <a:srgbClr val="FCE5CD"/>
                </a:solidFill>
                <a:latin typeface="Figtree"/>
                <a:ea typeface="Figtree"/>
                <a:cs typeface="Figtree"/>
                <a:sym typeface="Figtree"/>
              </a:rPr>
              <a:t> when evaluating product performance. </a:t>
            </a:r>
            <a:endParaRPr>
              <a:solidFill>
                <a:srgbClr val="FCE5CD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47" name="Google Shape;547;p61"/>
          <p:cNvSpPr/>
          <p:nvPr/>
        </p:nvSpPr>
        <p:spPr>
          <a:xfrm>
            <a:off x="373133" y="2799640"/>
            <a:ext cx="2622900" cy="951000"/>
          </a:xfrm>
          <a:prstGeom prst="roundRect">
            <a:avLst>
              <a:gd fmla="val 5265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548" name="Google Shape;548;p61"/>
          <p:cNvSpPr txBox="1"/>
          <p:nvPr>
            <p:ph idx="15" type="subTitle"/>
          </p:nvPr>
        </p:nvSpPr>
        <p:spPr>
          <a:xfrm>
            <a:off x="487466" y="2871529"/>
            <a:ext cx="2484900" cy="72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CE5CD"/>
                </a:solidFill>
                <a:latin typeface="Figtree"/>
                <a:ea typeface="Figtree"/>
                <a:cs typeface="Figtree"/>
                <a:sym typeface="Figtree"/>
              </a:rPr>
              <a:t>Identify cities where specific products demonstrate stronger sales performance. </a:t>
            </a:r>
            <a:endParaRPr>
              <a:solidFill>
                <a:srgbClr val="FCE5CD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49" name="Google Shape;549;p61"/>
          <p:cNvSpPr/>
          <p:nvPr/>
        </p:nvSpPr>
        <p:spPr>
          <a:xfrm>
            <a:off x="3381676" y="2772546"/>
            <a:ext cx="2622900" cy="951000"/>
          </a:xfrm>
          <a:prstGeom prst="roundRect">
            <a:avLst>
              <a:gd fmla="val 5265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550" name="Google Shape;550;p61"/>
          <p:cNvSpPr/>
          <p:nvPr/>
        </p:nvSpPr>
        <p:spPr>
          <a:xfrm>
            <a:off x="6308673" y="2761217"/>
            <a:ext cx="2622900" cy="951000"/>
          </a:xfrm>
          <a:prstGeom prst="roundRect">
            <a:avLst>
              <a:gd fmla="val 5265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551" name="Google Shape;551;p61"/>
          <p:cNvSpPr/>
          <p:nvPr/>
        </p:nvSpPr>
        <p:spPr>
          <a:xfrm>
            <a:off x="6273785" y="1328590"/>
            <a:ext cx="2622900" cy="951000"/>
          </a:xfrm>
          <a:prstGeom prst="roundRect">
            <a:avLst>
              <a:gd fmla="val 5265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552" name="Google Shape;552;p61"/>
          <p:cNvSpPr txBox="1"/>
          <p:nvPr>
            <p:ph idx="15" type="subTitle"/>
          </p:nvPr>
        </p:nvSpPr>
        <p:spPr>
          <a:xfrm>
            <a:off x="3507321" y="1527758"/>
            <a:ext cx="2380800" cy="48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CE5CD"/>
                </a:solidFill>
                <a:latin typeface="Figtree"/>
                <a:ea typeface="Figtree"/>
                <a:cs typeface="Figtree"/>
                <a:sym typeface="Figtree"/>
              </a:rPr>
              <a:t>Use monthly and quarterly trends to support sales planning. </a:t>
            </a:r>
            <a:endParaRPr>
              <a:solidFill>
                <a:srgbClr val="FCE5CD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53" name="Google Shape;553;p61"/>
          <p:cNvSpPr txBox="1"/>
          <p:nvPr>
            <p:ph idx="15" type="subTitle"/>
          </p:nvPr>
        </p:nvSpPr>
        <p:spPr>
          <a:xfrm>
            <a:off x="3568568" y="2885859"/>
            <a:ext cx="2380800" cy="72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CE5CD"/>
                </a:solidFill>
                <a:latin typeface="Figtree"/>
                <a:ea typeface="Figtree"/>
                <a:cs typeface="Figtree"/>
                <a:sym typeface="Figtree"/>
              </a:rPr>
              <a:t>Investigate products with high transaction volume but comparatively different transaction values. </a:t>
            </a:r>
            <a:endParaRPr>
              <a:solidFill>
                <a:srgbClr val="FCE5CD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54" name="Google Shape;554;p61"/>
          <p:cNvSpPr txBox="1"/>
          <p:nvPr>
            <p:ph idx="15" type="subTitle"/>
          </p:nvPr>
        </p:nvSpPr>
        <p:spPr>
          <a:xfrm>
            <a:off x="6435442" y="1552630"/>
            <a:ext cx="2380800" cy="48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CE5CD"/>
                </a:solidFill>
                <a:latin typeface="Figtree"/>
                <a:ea typeface="Figtree"/>
                <a:cs typeface="Figtree"/>
                <a:sym typeface="Figtree"/>
              </a:rPr>
              <a:t>Use statistical testing to validate important differences before making data-driven decisions. </a:t>
            </a:r>
            <a:endParaRPr>
              <a:solidFill>
                <a:srgbClr val="FCE5CD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55" name="Google Shape;555;p61"/>
          <p:cNvSpPr txBox="1"/>
          <p:nvPr>
            <p:ph idx="15" type="subTitle"/>
          </p:nvPr>
        </p:nvSpPr>
        <p:spPr>
          <a:xfrm>
            <a:off x="6004943" y="2919838"/>
            <a:ext cx="3123000" cy="951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>
                <a:solidFill>
                  <a:srgbClr val="FCE5CD"/>
                </a:solidFill>
                <a:latin typeface="Figtree"/>
                <a:ea typeface="Figtree"/>
                <a:cs typeface="Figtree"/>
                <a:sym typeface="Figtree"/>
              </a:rPr>
              <a:t>Continue monitoring product and location performance through interactive dashboards.</a:t>
            </a:r>
            <a:endParaRPr>
              <a:solidFill>
                <a:srgbClr val="FCE5CD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CE5CD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2"/>
          <p:cNvSpPr txBox="1"/>
          <p:nvPr/>
        </p:nvSpPr>
        <p:spPr>
          <a:xfrm>
            <a:off x="759050" y="3965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FE2F3"/>
                </a:solidFill>
                <a:latin typeface="Figtree"/>
                <a:ea typeface="Figtree"/>
                <a:cs typeface="Figtree"/>
                <a:sym typeface="Figtree"/>
              </a:rPr>
              <a:t>Conclusion </a:t>
            </a:r>
            <a:endParaRPr b="1" sz="2000">
              <a:solidFill>
                <a:srgbClr val="CFE2F3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61" name="Google Shape;561;p62"/>
          <p:cNvSpPr txBox="1"/>
          <p:nvPr/>
        </p:nvSpPr>
        <p:spPr>
          <a:xfrm>
            <a:off x="620750" y="1064200"/>
            <a:ext cx="8148000" cy="27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FE2F3"/>
                </a:solidFill>
                <a:latin typeface="Figtree"/>
                <a:ea typeface="Figtree"/>
                <a:cs typeface="Figtree"/>
                <a:sym typeface="Figtree"/>
              </a:rPr>
              <a:t>The analysis combined exploratory data analysis, product-level deep-dive analysis, interactive dashboarding, and statistical validation to understand retail sales performance.</a:t>
            </a:r>
            <a:endParaRPr sz="1200">
              <a:solidFill>
                <a:srgbClr val="CFE2F3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FE2F3"/>
                </a:solidFill>
                <a:latin typeface="Figtree"/>
                <a:ea typeface="Figtree"/>
                <a:cs typeface="Figtree"/>
                <a:sym typeface="Figtree"/>
              </a:rPr>
              <a:t>The findings show that product performance is influenced by multiple factors, including transaction volume, quantity sold, transaction value, location, and time.</a:t>
            </a:r>
            <a:endParaRPr sz="1200">
              <a:solidFill>
                <a:srgbClr val="CFE2F3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FE2F3"/>
                </a:solidFill>
                <a:latin typeface="Figtree"/>
                <a:ea typeface="Figtree"/>
                <a:cs typeface="Figtree"/>
                <a:sym typeface="Figtree"/>
              </a:rPr>
              <a:t>The statistical hypothesis test provides an additional level of evidence for evaluating differences between product groups.</a:t>
            </a:r>
            <a:endParaRPr sz="1200">
              <a:solidFill>
                <a:srgbClr val="CFE2F3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CFE2F3"/>
                </a:solidFill>
                <a:latin typeface="Figtree"/>
                <a:ea typeface="Figtree"/>
                <a:cs typeface="Figtree"/>
                <a:sym typeface="Figtree"/>
              </a:rPr>
              <a:t>Overall Outcome</a:t>
            </a:r>
            <a:endParaRPr b="1">
              <a:solidFill>
                <a:srgbClr val="CFE2F3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CFE2F3"/>
                </a:solidFill>
                <a:latin typeface="Figtree"/>
                <a:ea typeface="Figtree"/>
                <a:cs typeface="Figtree"/>
                <a:sym typeface="Figtree"/>
              </a:rPr>
              <a:t>The analysis transforms transaction data into actionable business insights and demonstrates how descriptive and statistical analysis can support data-driven decision-making.</a:t>
            </a:r>
            <a:endParaRPr sz="1200">
              <a:solidFill>
                <a:srgbClr val="CFE2F3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3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mode gradients">
  <a:themeElements>
    <a:clrScheme name="Simple Light">
      <a:dk1>
        <a:srgbClr val="FFFFFF"/>
      </a:dk1>
      <a:lt1>
        <a:srgbClr val="000000"/>
      </a:lt1>
      <a:dk2>
        <a:srgbClr val="FF6234"/>
      </a:dk2>
      <a:lt2>
        <a:srgbClr val="AB4FF6"/>
      </a:lt2>
      <a:accent1>
        <a:srgbClr val="202124"/>
      </a:accent1>
      <a:accent2>
        <a:srgbClr val="F7F2F1"/>
      </a:accent2>
      <a:accent3>
        <a:srgbClr val="BABCC2"/>
      </a:accent3>
      <a:accent4>
        <a:srgbClr val="FCE5CD"/>
      </a:accent4>
      <a:accent5>
        <a:srgbClr val="FF5F79"/>
      </a:accent5>
      <a:accent6>
        <a:srgbClr val="D20972"/>
      </a:accent6>
      <a:hlink>
        <a:srgbClr val="3C78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